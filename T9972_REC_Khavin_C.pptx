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7919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1F8A70"/>
          </a:solidFill>
          <a:ln/>
        </p:spPr>
      </p:sp>
      <p:sp>
        <p:nvSpPr>
          <p:cNvPr id="3" name="Shape 1"/>
          <p:cNvSpPr/>
          <p:nvPr/>
        </p:nvSpPr>
        <p:spPr>
          <a:xfrm>
            <a:off x="0" y="6812280"/>
            <a:ext cx="12191695" cy="45720"/>
          </a:xfrm>
          <a:prstGeom prst="rect">
            <a:avLst/>
          </a:prstGeom>
          <a:solidFill>
            <a:srgbClr val="1F8A70"/>
          </a:solidFill>
          <a:ln/>
        </p:spPr>
      </p:sp>
      <p:sp>
        <p:nvSpPr>
          <p:cNvPr id="4" name="Shape 2"/>
          <p:cNvSpPr/>
          <p:nvPr/>
        </p:nvSpPr>
        <p:spPr>
          <a:xfrm>
            <a:off x="8915400" y="0"/>
            <a:ext cx="3276295" cy="6858000"/>
          </a:xfrm>
          <a:prstGeom prst="rect">
            <a:avLst/>
          </a:prstGeom>
          <a:solidFill>
            <a:srgbClr val="132A3A"/>
          </a:solidFill>
          <a:ln/>
        </p:spPr>
      </p:sp>
      <p:sp>
        <p:nvSpPr>
          <p:cNvPr id="5" name="Shape 3"/>
          <p:cNvSpPr/>
          <p:nvPr/>
        </p:nvSpPr>
        <p:spPr>
          <a:xfrm>
            <a:off x="9557720" y="1196035"/>
            <a:ext cx="981334" cy="1240841"/>
          </a:xfrm>
          <a:prstGeom prst="line">
            <a:avLst/>
          </a:prstGeom>
          <a:noFill/>
          <a:ln w="9525">
            <a:solidFill>
              <a:srgbClr val="6FBFAE">
                <a:alpha val="45000"/>
              </a:srgbClr>
            </a:solidFill>
            <a:prstDash val="solid"/>
          </a:ln>
        </p:spPr>
      </p:sp>
      <p:sp>
        <p:nvSpPr>
          <p:cNvPr id="6" name="Shape 4"/>
          <p:cNvSpPr/>
          <p:nvPr/>
        </p:nvSpPr>
        <p:spPr>
          <a:xfrm>
            <a:off x="9803054" y="2436876"/>
            <a:ext cx="736001" cy="1078992"/>
          </a:xfrm>
          <a:prstGeom prst="line">
            <a:avLst/>
          </a:prstGeom>
          <a:noFill/>
          <a:ln w="9525">
            <a:solidFill>
              <a:srgbClr val="6FBFAE">
                <a:alpha val="45000"/>
              </a:srgbClr>
            </a:solidFill>
            <a:prstDash val="solid"/>
          </a:ln>
        </p:spPr>
      </p:sp>
      <p:sp>
        <p:nvSpPr>
          <p:cNvPr id="7" name="Shape 5"/>
          <p:cNvSpPr/>
          <p:nvPr/>
        </p:nvSpPr>
        <p:spPr>
          <a:xfrm>
            <a:off x="10539054" y="2436876"/>
            <a:ext cx="490667" cy="1456639"/>
          </a:xfrm>
          <a:prstGeom prst="line">
            <a:avLst/>
          </a:prstGeom>
          <a:noFill/>
          <a:ln w="9525">
            <a:solidFill>
              <a:srgbClr val="6FBFAE">
                <a:alpha val="45000"/>
              </a:srgbClr>
            </a:solidFill>
            <a:prstDash val="solid"/>
          </a:ln>
        </p:spPr>
      </p:sp>
      <p:sp>
        <p:nvSpPr>
          <p:cNvPr id="8" name="Shape 6"/>
          <p:cNvSpPr/>
          <p:nvPr/>
        </p:nvSpPr>
        <p:spPr>
          <a:xfrm>
            <a:off x="9803054" y="3515868"/>
            <a:ext cx="490667" cy="1456639"/>
          </a:xfrm>
          <a:prstGeom prst="line">
            <a:avLst/>
          </a:prstGeom>
          <a:noFill/>
          <a:ln w="9525">
            <a:solidFill>
              <a:srgbClr val="6FBFAE">
                <a:alpha val="45000"/>
              </a:srgbClr>
            </a:solidFill>
            <a:prstDash val="solid"/>
          </a:ln>
        </p:spPr>
      </p:sp>
      <p:sp>
        <p:nvSpPr>
          <p:cNvPr id="9" name="Shape 7"/>
          <p:cNvSpPr/>
          <p:nvPr/>
        </p:nvSpPr>
        <p:spPr>
          <a:xfrm flipV="1">
            <a:off x="11029721" y="1519733"/>
            <a:ext cx="245334" cy="2373782"/>
          </a:xfrm>
          <a:prstGeom prst="line">
            <a:avLst/>
          </a:prstGeom>
          <a:noFill/>
          <a:ln w="9525">
            <a:solidFill>
              <a:srgbClr val="6FBFAE">
                <a:alpha val="45000"/>
              </a:srgbClr>
            </a:solidFill>
            <a:prstDash val="solid"/>
          </a:ln>
        </p:spPr>
      </p:sp>
      <p:sp>
        <p:nvSpPr>
          <p:cNvPr id="10" name="Shape 8"/>
          <p:cNvSpPr/>
          <p:nvPr/>
        </p:nvSpPr>
        <p:spPr>
          <a:xfrm>
            <a:off x="10293721" y="3893515"/>
            <a:ext cx="736001" cy="1078992"/>
          </a:xfrm>
          <a:prstGeom prst="line">
            <a:avLst/>
          </a:prstGeom>
          <a:noFill/>
          <a:ln w="9525">
            <a:solidFill>
              <a:srgbClr val="6FBFAE">
                <a:alpha val="45000"/>
              </a:srgbClr>
            </a:solidFill>
            <a:prstDash val="solid"/>
          </a:ln>
        </p:spPr>
      </p:sp>
      <p:sp>
        <p:nvSpPr>
          <p:cNvPr id="11" name="Shape 9"/>
          <p:cNvSpPr/>
          <p:nvPr/>
        </p:nvSpPr>
        <p:spPr>
          <a:xfrm>
            <a:off x="9435054" y="4972507"/>
            <a:ext cx="858667" cy="161849"/>
          </a:xfrm>
          <a:prstGeom prst="line">
            <a:avLst/>
          </a:prstGeom>
          <a:noFill/>
          <a:ln w="9525">
            <a:solidFill>
              <a:srgbClr val="6FBFAE">
                <a:alpha val="45000"/>
              </a:srgbClr>
            </a:solidFill>
            <a:prstDash val="solid"/>
          </a:ln>
        </p:spPr>
      </p:sp>
      <p:sp>
        <p:nvSpPr>
          <p:cNvPr id="12" name="Shape 10"/>
          <p:cNvSpPr/>
          <p:nvPr/>
        </p:nvSpPr>
        <p:spPr>
          <a:xfrm>
            <a:off x="10293721" y="4972507"/>
            <a:ext cx="490667" cy="701345"/>
          </a:xfrm>
          <a:prstGeom prst="line">
            <a:avLst/>
          </a:prstGeom>
          <a:noFill/>
          <a:ln w="9525">
            <a:solidFill>
              <a:srgbClr val="6FBFAE">
                <a:alpha val="45000"/>
              </a:srgbClr>
            </a:solidFill>
            <a:prstDash val="solid"/>
          </a:ln>
        </p:spPr>
      </p:sp>
      <p:sp>
        <p:nvSpPr>
          <p:cNvPr id="13" name="Shape 11"/>
          <p:cNvSpPr/>
          <p:nvPr/>
        </p:nvSpPr>
        <p:spPr>
          <a:xfrm>
            <a:off x="9516572" y="1154887"/>
            <a:ext cx="82296" cy="82296"/>
          </a:xfrm>
          <a:prstGeom prst="ellipse">
            <a:avLst/>
          </a:prstGeom>
          <a:solidFill>
            <a:srgbClr val="6FBFAE">
              <a:alpha val="90000"/>
            </a:srgbClr>
          </a:solidFill>
          <a:ln/>
        </p:spPr>
      </p:sp>
      <p:sp>
        <p:nvSpPr>
          <p:cNvPr id="14" name="Shape 12"/>
          <p:cNvSpPr/>
          <p:nvPr/>
        </p:nvSpPr>
        <p:spPr>
          <a:xfrm>
            <a:off x="10513908" y="2411730"/>
            <a:ext cx="50292" cy="50292"/>
          </a:xfrm>
          <a:prstGeom prst="ellipse">
            <a:avLst/>
          </a:prstGeom>
          <a:solidFill>
            <a:srgbClr val="6FBFAE">
              <a:alpha val="60000"/>
            </a:srgbClr>
          </a:solidFill>
          <a:ln/>
        </p:spPr>
      </p:sp>
      <p:sp>
        <p:nvSpPr>
          <p:cNvPr id="15" name="Shape 13"/>
          <p:cNvSpPr/>
          <p:nvPr/>
        </p:nvSpPr>
        <p:spPr>
          <a:xfrm>
            <a:off x="9777908" y="3490722"/>
            <a:ext cx="50292" cy="50292"/>
          </a:xfrm>
          <a:prstGeom prst="ellipse">
            <a:avLst/>
          </a:prstGeom>
          <a:solidFill>
            <a:srgbClr val="6FBFAE">
              <a:alpha val="90000"/>
            </a:srgbClr>
          </a:solidFill>
          <a:ln/>
        </p:spPr>
      </p:sp>
      <p:sp>
        <p:nvSpPr>
          <p:cNvPr id="16" name="Shape 14"/>
          <p:cNvSpPr/>
          <p:nvPr/>
        </p:nvSpPr>
        <p:spPr>
          <a:xfrm>
            <a:off x="10988573" y="3852367"/>
            <a:ext cx="82296" cy="82296"/>
          </a:xfrm>
          <a:prstGeom prst="ellipse">
            <a:avLst/>
          </a:prstGeom>
          <a:solidFill>
            <a:srgbClr val="6FBFAE">
              <a:alpha val="60000"/>
            </a:srgbClr>
          </a:solidFill>
          <a:ln/>
        </p:spPr>
      </p:sp>
      <p:sp>
        <p:nvSpPr>
          <p:cNvPr id="17" name="Shape 15"/>
          <p:cNvSpPr/>
          <p:nvPr/>
        </p:nvSpPr>
        <p:spPr>
          <a:xfrm>
            <a:off x="10268575" y="4947361"/>
            <a:ext cx="50292" cy="50292"/>
          </a:xfrm>
          <a:prstGeom prst="ellipse">
            <a:avLst/>
          </a:prstGeom>
          <a:solidFill>
            <a:srgbClr val="6FBFAE">
              <a:alpha val="90000"/>
            </a:srgbClr>
          </a:solidFill>
          <a:ln/>
        </p:spPr>
      </p:sp>
      <p:sp>
        <p:nvSpPr>
          <p:cNvPr id="18" name="Shape 16"/>
          <p:cNvSpPr/>
          <p:nvPr/>
        </p:nvSpPr>
        <p:spPr>
          <a:xfrm>
            <a:off x="11249909" y="1494587"/>
            <a:ext cx="50292" cy="50292"/>
          </a:xfrm>
          <a:prstGeom prst="ellipse">
            <a:avLst/>
          </a:prstGeom>
          <a:solidFill>
            <a:srgbClr val="6FBFAE">
              <a:alpha val="60000"/>
            </a:srgbClr>
          </a:solidFill>
          <a:ln/>
        </p:spPr>
      </p:sp>
      <p:sp>
        <p:nvSpPr>
          <p:cNvPr id="19" name="Shape 17"/>
          <p:cNvSpPr/>
          <p:nvPr/>
        </p:nvSpPr>
        <p:spPr>
          <a:xfrm>
            <a:off x="9393906" y="5093208"/>
            <a:ext cx="82296" cy="82296"/>
          </a:xfrm>
          <a:prstGeom prst="ellipse">
            <a:avLst/>
          </a:prstGeom>
          <a:solidFill>
            <a:srgbClr val="6FBFAE">
              <a:alpha val="90000"/>
            </a:srgbClr>
          </a:solidFill>
          <a:ln/>
        </p:spPr>
      </p:sp>
      <p:sp>
        <p:nvSpPr>
          <p:cNvPr id="20" name="Shape 18"/>
          <p:cNvSpPr/>
          <p:nvPr/>
        </p:nvSpPr>
        <p:spPr>
          <a:xfrm>
            <a:off x="10759242" y="5648706"/>
            <a:ext cx="50292" cy="50292"/>
          </a:xfrm>
          <a:prstGeom prst="ellipse">
            <a:avLst/>
          </a:prstGeom>
          <a:solidFill>
            <a:srgbClr val="6FBFAE">
              <a:alpha val="60000"/>
            </a:srgbClr>
          </a:solidFill>
          <a:ln/>
        </p:spPr>
      </p:sp>
      <p:sp>
        <p:nvSpPr>
          <p:cNvPr id="21" name="Shape 19"/>
          <p:cNvSpPr/>
          <p:nvPr/>
        </p:nvSpPr>
        <p:spPr>
          <a:xfrm>
            <a:off x="8869680" y="457200"/>
            <a:ext cx="27432" cy="5943600"/>
          </a:xfrm>
          <a:prstGeom prst="rect">
            <a:avLst/>
          </a:prstGeom>
          <a:solidFill>
            <a:srgbClr val="1F8A70"/>
          </a:solidFill>
          <a:ln/>
        </p:spPr>
      </p:sp>
      <p:sp>
        <p:nvSpPr>
          <p:cNvPr id="22" name="Shape 20"/>
          <p:cNvSpPr/>
          <p:nvPr/>
        </p:nvSpPr>
        <p:spPr>
          <a:xfrm>
            <a:off x="502920" y="502920"/>
            <a:ext cx="128016" cy="128016"/>
          </a:xfrm>
          <a:prstGeom prst="rect">
            <a:avLst/>
          </a:prstGeom>
          <a:solidFill>
            <a:srgbClr val="1F8A70"/>
          </a:solidFill>
          <a:ln/>
        </p:spPr>
      </p:sp>
      <p:sp>
        <p:nvSpPr>
          <p:cNvPr id="23" name="Shape 21"/>
          <p:cNvSpPr/>
          <p:nvPr/>
        </p:nvSpPr>
        <p:spPr>
          <a:xfrm>
            <a:off x="704088" y="553212"/>
            <a:ext cx="2377440" cy="27432"/>
          </a:xfrm>
          <a:prstGeom prst="rect">
            <a:avLst/>
          </a:prstGeom>
          <a:solidFill>
            <a:srgbClr val="1F8A70"/>
          </a:solidFill>
          <a:ln/>
        </p:spPr>
      </p:sp>
      <p:sp>
        <p:nvSpPr>
          <p:cNvPr id="24" name="Text 22"/>
          <p:cNvSpPr/>
          <p:nvPr/>
        </p:nvSpPr>
        <p:spPr>
          <a:xfrm>
            <a:off x="480060" y="923060"/>
            <a:ext cx="7863840" cy="1280160"/>
          </a:xfrm>
          <a:prstGeom prst="rect">
            <a:avLst/>
          </a:prstGeom>
          <a:noFill/>
          <a:ln/>
        </p:spPr>
        <p:txBody>
          <a:bodyPr wrap="square" lIns="0" tIns="0" rIns="0" bIns="0" rtlCol="0" anchor="t"/>
          <a:lstStyle/>
          <a:p>
            <a:pPr marL="0" indent="0" algn="l">
              <a:buNone/>
            </a:pPr>
            <a:r>
              <a:rPr lang="en-US" sz="4400" b="1" dirty="0">
                <a:solidFill>
                  <a:srgbClr val="132A3A"/>
                </a:solidFill>
                <a:latin typeface="Arial" pitchFamily="34" charset="0"/>
                <a:ea typeface="Arial" pitchFamily="34" charset="-122"/>
                <a:cs typeface="Arial" pitchFamily="34" charset="-120"/>
              </a:rPr>
              <a:t>ZEROTH REVIEW </a:t>
            </a:r>
            <a:endParaRPr lang="en-US" sz="4400" dirty="0"/>
          </a:p>
        </p:txBody>
      </p:sp>
      <p:sp>
        <p:nvSpPr>
          <p:cNvPr id="25" name="Text 23"/>
          <p:cNvSpPr/>
          <p:nvPr/>
        </p:nvSpPr>
        <p:spPr>
          <a:xfrm>
            <a:off x="457199" y="2669564"/>
            <a:ext cx="3657600" cy="274320"/>
          </a:xfrm>
          <a:prstGeom prst="rect">
            <a:avLst/>
          </a:prstGeom>
          <a:noFill/>
          <a:ln/>
        </p:spPr>
        <p:txBody>
          <a:bodyPr wrap="square" lIns="0" tIns="0" rIns="0" bIns="0" rtlCol="0" anchor="ctr"/>
          <a:lstStyle/>
          <a:p>
            <a:pPr marL="0" indent="0">
              <a:buNone/>
            </a:pPr>
            <a:r>
              <a:rPr lang="en-US" sz="1200" b="1" kern="0" spc="200" dirty="0">
                <a:solidFill>
                  <a:srgbClr val="1F8A70"/>
                </a:solidFill>
                <a:latin typeface="Arial" pitchFamily="34" charset="0"/>
                <a:ea typeface="Arial" pitchFamily="34" charset="-122"/>
                <a:cs typeface="Arial" pitchFamily="34" charset="-120"/>
              </a:rPr>
              <a:t>NAME</a:t>
            </a:r>
            <a:endParaRPr lang="en-US" sz="1200" dirty="0"/>
          </a:p>
        </p:txBody>
      </p:sp>
      <p:sp>
        <p:nvSpPr>
          <p:cNvPr id="26" name="Text 24"/>
          <p:cNvSpPr/>
          <p:nvPr/>
        </p:nvSpPr>
        <p:spPr>
          <a:xfrm>
            <a:off x="457200" y="2898648"/>
            <a:ext cx="5943600" cy="411480"/>
          </a:xfrm>
          <a:prstGeom prst="rect">
            <a:avLst/>
          </a:prstGeom>
          <a:noFill/>
          <a:ln/>
        </p:spPr>
        <p:txBody>
          <a:bodyPr wrap="square" lIns="0" tIns="0" rIns="0" bIns="0" rtlCol="0" anchor="ctr"/>
          <a:lstStyle/>
          <a:p>
            <a:pPr marL="0" indent="0">
              <a:buNone/>
            </a:pPr>
            <a:r>
              <a:rPr lang="en-US" sz="2000" b="1" dirty="0">
                <a:solidFill>
                  <a:srgbClr val="132A3A"/>
                </a:solidFill>
                <a:latin typeface="Arial" pitchFamily="34" charset="0"/>
                <a:ea typeface="Arial" pitchFamily="34" charset="-122"/>
                <a:cs typeface="Arial" pitchFamily="34" charset="-120"/>
              </a:rPr>
              <a:t>Khavin C</a:t>
            </a:r>
            <a:endParaRPr lang="en-US" sz="2000" dirty="0"/>
          </a:p>
        </p:txBody>
      </p:sp>
      <p:sp>
        <p:nvSpPr>
          <p:cNvPr id="27" name="Text 25"/>
          <p:cNvSpPr/>
          <p:nvPr/>
        </p:nvSpPr>
        <p:spPr>
          <a:xfrm>
            <a:off x="457200" y="3490722"/>
            <a:ext cx="3657600" cy="274320"/>
          </a:xfrm>
          <a:prstGeom prst="rect">
            <a:avLst/>
          </a:prstGeom>
          <a:noFill/>
          <a:ln/>
        </p:spPr>
        <p:txBody>
          <a:bodyPr wrap="square" lIns="0" tIns="0" rIns="0" bIns="0" rtlCol="0" anchor="ctr"/>
          <a:lstStyle/>
          <a:p>
            <a:pPr marL="0" indent="0">
              <a:buNone/>
            </a:pPr>
            <a:r>
              <a:rPr lang="en-US" sz="1200" b="1" kern="0" spc="200" dirty="0">
                <a:solidFill>
                  <a:srgbClr val="1F8A70"/>
                </a:solidFill>
                <a:latin typeface="Arial" pitchFamily="34" charset="0"/>
                <a:ea typeface="Arial" pitchFamily="34" charset="-122"/>
                <a:cs typeface="Arial" pitchFamily="34" charset="-120"/>
              </a:rPr>
              <a:t>COLLEGE</a:t>
            </a:r>
            <a:endParaRPr lang="en-US" sz="1200" dirty="0"/>
          </a:p>
        </p:txBody>
      </p:sp>
      <p:sp>
        <p:nvSpPr>
          <p:cNvPr id="28" name="Text 26"/>
          <p:cNvSpPr/>
          <p:nvPr/>
        </p:nvSpPr>
        <p:spPr>
          <a:xfrm>
            <a:off x="425539" y="3580593"/>
            <a:ext cx="6035040" cy="731520"/>
          </a:xfrm>
          <a:prstGeom prst="rect">
            <a:avLst/>
          </a:prstGeom>
          <a:noFill/>
          <a:ln/>
        </p:spPr>
        <p:txBody>
          <a:bodyPr wrap="square" lIns="0" tIns="0" rIns="0" bIns="0" rtlCol="0" anchor="ctr"/>
          <a:lstStyle/>
          <a:p>
            <a:pPr marL="0" indent="0">
              <a:buNone/>
            </a:pPr>
            <a:r>
              <a:rPr lang="en-US" sz="2000" b="1" dirty="0">
                <a:solidFill>
                  <a:srgbClr val="132A3A"/>
                </a:solidFill>
                <a:latin typeface="Arial" pitchFamily="34" charset="0"/>
                <a:ea typeface="Arial" pitchFamily="34" charset="-122"/>
                <a:cs typeface="Arial" pitchFamily="34" charset="-120"/>
              </a:rPr>
              <a:t>Rajalakshmi Engineering College</a:t>
            </a:r>
            <a:endParaRPr lang="en-US" sz="2000" dirty="0"/>
          </a:p>
        </p:txBody>
      </p:sp>
      <p:sp>
        <p:nvSpPr>
          <p:cNvPr id="31" name="Text 25">
            <a:extLst>
              <a:ext uri="{FF2B5EF4-FFF2-40B4-BE49-F238E27FC236}">
                <a16:creationId xmlns:a16="http://schemas.microsoft.com/office/drawing/2014/main" id="{829AE6A7-CF6B-3B85-9E18-7469E284025C}"/>
              </a:ext>
            </a:extLst>
          </p:cNvPr>
          <p:cNvSpPr/>
          <p:nvPr/>
        </p:nvSpPr>
        <p:spPr>
          <a:xfrm>
            <a:off x="457200" y="4351952"/>
            <a:ext cx="3657600" cy="274320"/>
          </a:xfrm>
          <a:prstGeom prst="rect">
            <a:avLst/>
          </a:prstGeom>
          <a:noFill/>
          <a:ln/>
        </p:spPr>
        <p:txBody>
          <a:bodyPr wrap="square" lIns="0" tIns="0" rIns="0" bIns="0" rtlCol="0" anchor="ctr"/>
          <a:lstStyle/>
          <a:p>
            <a:pPr marL="0" indent="0">
              <a:buNone/>
            </a:pPr>
            <a:r>
              <a:rPr lang="en-US" sz="1200" b="1" kern="0" spc="200" dirty="0">
                <a:solidFill>
                  <a:srgbClr val="1F8A70"/>
                </a:solidFill>
                <a:latin typeface="Arial" pitchFamily="34" charset="0"/>
                <a:cs typeface="Arial" pitchFamily="34" charset="-120"/>
              </a:rPr>
              <a:t>T-SERIES ID</a:t>
            </a:r>
            <a:endParaRPr lang="en-US" sz="1200" dirty="0"/>
          </a:p>
        </p:txBody>
      </p:sp>
      <p:sp>
        <p:nvSpPr>
          <p:cNvPr id="32" name="Text 26">
            <a:extLst>
              <a:ext uri="{FF2B5EF4-FFF2-40B4-BE49-F238E27FC236}">
                <a16:creationId xmlns:a16="http://schemas.microsoft.com/office/drawing/2014/main" id="{73FC65F9-7D5E-2689-26FC-21837EF8776C}"/>
              </a:ext>
            </a:extLst>
          </p:cNvPr>
          <p:cNvSpPr/>
          <p:nvPr/>
        </p:nvSpPr>
        <p:spPr>
          <a:xfrm>
            <a:off x="425539" y="4508476"/>
            <a:ext cx="6035040" cy="731520"/>
          </a:xfrm>
          <a:prstGeom prst="rect">
            <a:avLst/>
          </a:prstGeom>
          <a:noFill/>
          <a:ln/>
        </p:spPr>
        <p:txBody>
          <a:bodyPr wrap="square" lIns="0" tIns="0" rIns="0" bIns="0" rtlCol="0" anchor="ctr"/>
          <a:lstStyle/>
          <a:p>
            <a:pPr marL="0" indent="0">
              <a:buNone/>
            </a:pPr>
            <a:r>
              <a:rPr lang="en-US" sz="2000" b="1" dirty="0">
                <a:solidFill>
                  <a:srgbClr val="132A3A"/>
                </a:solidFill>
                <a:latin typeface="Arial" pitchFamily="34" charset="0"/>
                <a:cs typeface="Arial" pitchFamily="34" charset="-120"/>
              </a:rPr>
              <a:t>T9932</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4"/>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1F8A70"/>
          </a:solidFill>
          <a:ln/>
        </p:spPr>
      </p:sp>
      <p:sp>
        <p:nvSpPr>
          <p:cNvPr id="3" name="Shape 1"/>
          <p:cNvSpPr/>
          <p:nvPr/>
        </p:nvSpPr>
        <p:spPr>
          <a:xfrm>
            <a:off x="0" y="6812280"/>
            <a:ext cx="12191695" cy="45720"/>
          </a:xfrm>
          <a:prstGeom prst="rect">
            <a:avLst/>
          </a:prstGeom>
          <a:solidFill>
            <a:srgbClr val="1F8A70"/>
          </a:solidFill>
          <a:ln/>
        </p:spPr>
      </p:sp>
      <p:sp>
        <p:nvSpPr>
          <p:cNvPr id="4" name="Shape 2"/>
          <p:cNvSpPr/>
          <p:nvPr/>
        </p:nvSpPr>
        <p:spPr>
          <a:xfrm>
            <a:off x="7955280" y="0"/>
            <a:ext cx="4236415" cy="6858000"/>
          </a:xfrm>
          <a:prstGeom prst="rect">
            <a:avLst/>
          </a:prstGeom>
          <a:solidFill>
            <a:srgbClr val="132A3A"/>
          </a:solidFill>
          <a:ln/>
        </p:spPr>
      </p:sp>
      <p:sp>
        <p:nvSpPr>
          <p:cNvPr id="5" name="Shape 3"/>
          <p:cNvSpPr/>
          <p:nvPr/>
        </p:nvSpPr>
        <p:spPr>
          <a:xfrm>
            <a:off x="8723330" y="4412894"/>
            <a:ext cx="1438534" cy="483718"/>
          </a:xfrm>
          <a:prstGeom prst="line">
            <a:avLst/>
          </a:prstGeom>
          <a:noFill/>
          <a:ln w="9525">
            <a:solidFill>
              <a:srgbClr val="6FBFAE">
                <a:alpha val="45000"/>
              </a:srgbClr>
            </a:solidFill>
            <a:prstDash val="solid"/>
          </a:ln>
        </p:spPr>
      </p:sp>
      <p:sp>
        <p:nvSpPr>
          <p:cNvPr id="6" name="Shape 4"/>
          <p:cNvSpPr/>
          <p:nvPr/>
        </p:nvSpPr>
        <p:spPr>
          <a:xfrm>
            <a:off x="9082964" y="4896612"/>
            <a:ext cx="1078901" cy="420624"/>
          </a:xfrm>
          <a:prstGeom prst="line">
            <a:avLst/>
          </a:prstGeom>
          <a:noFill/>
          <a:ln w="9525">
            <a:solidFill>
              <a:srgbClr val="6FBFAE">
                <a:alpha val="45000"/>
              </a:srgbClr>
            </a:solidFill>
            <a:prstDash val="solid"/>
          </a:ln>
        </p:spPr>
      </p:sp>
      <p:sp>
        <p:nvSpPr>
          <p:cNvPr id="7" name="Shape 5"/>
          <p:cNvSpPr/>
          <p:nvPr/>
        </p:nvSpPr>
        <p:spPr>
          <a:xfrm>
            <a:off x="10161864" y="4896612"/>
            <a:ext cx="719267" cy="567842"/>
          </a:xfrm>
          <a:prstGeom prst="line">
            <a:avLst/>
          </a:prstGeom>
          <a:noFill/>
          <a:ln w="9525">
            <a:solidFill>
              <a:srgbClr val="6FBFAE">
                <a:alpha val="45000"/>
              </a:srgbClr>
            </a:solidFill>
            <a:prstDash val="solid"/>
          </a:ln>
        </p:spPr>
      </p:sp>
      <p:sp>
        <p:nvSpPr>
          <p:cNvPr id="8" name="Shape 6"/>
          <p:cNvSpPr/>
          <p:nvPr/>
        </p:nvSpPr>
        <p:spPr>
          <a:xfrm>
            <a:off x="9082964" y="5317236"/>
            <a:ext cx="719267" cy="567842"/>
          </a:xfrm>
          <a:prstGeom prst="line">
            <a:avLst/>
          </a:prstGeom>
          <a:noFill/>
          <a:ln w="9525">
            <a:solidFill>
              <a:srgbClr val="6FBFAE">
                <a:alpha val="45000"/>
              </a:srgbClr>
            </a:solidFill>
            <a:prstDash val="solid"/>
          </a:ln>
        </p:spPr>
      </p:sp>
      <p:sp>
        <p:nvSpPr>
          <p:cNvPr id="9" name="Shape 7"/>
          <p:cNvSpPr/>
          <p:nvPr/>
        </p:nvSpPr>
        <p:spPr>
          <a:xfrm flipV="1">
            <a:off x="10881131" y="4539082"/>
            <a:ext cx="359634" cy="925373"/>
          </a:xfrm>
          <a:prstGeom prst="line">
            <a:avLst/>
          </a:prstGeom>
          <a:noFill/>
          <a:ln w="9525">
            <a:solidFill>
              <a:srgbClr val="6FBFAE">
                <a:alpha val="45000"/>
              </a:srgbClr>
            </a:solidFill>
            <a:prstDash val="solid"/>
          </a:ln>
        </p:spPr>
      </p:sp>
      <p:sp>
        <p:nvSpPr>
          <p:cNvPr id="10" name="Shape 8"/>
          <p:cNvSpPr/>
          <p:nvPr/>
        </p:nvSpPr>
        <p:spPr>
          <a:xfrm>
            <a:off x="9802231" y="5464454"/>
            <a:ext cx="1078901" cy="420624"/>
          </a:xfrm>
          <a:prstGeom prst="line">
            <a:avLst/>
          </a:prstGeom>
          <a:noFill/>
          <a:ln w="9525">
            <a:solidFill>
              <a:srgbClr val="6FBFAE">
                <a:alpha val="45000"/>
              </a:srgbClr>
            </a:solidFill>
            <a:prstDash val="solid"/>
          </a:ln>
        </p:spPr>
      </p:sp>
      <p:sp>
        <p:nvSpPr>
          <p:cNvPr id="11" name="Shape 9"/>
          <p:cNvSpPr/>
          <p:nvPr/>
        </p:nvSpPr>
        <p:spPr>
          <a:xfrm>
            <a:off x="8543514" y="5885078"/>
            <a:ext cx="1258717" cy="63094"/>
          </a:xfrm>
          <a:prstGeom prst="line">
            <a:avLst/>
          </a:prstGeom>
          <a:noFill/>
          <a:ln w="9525">
            <a:solidFill>
              <a:srgbClr val="6FBFAE">
                <a:alpha val="45000"/>
              </a:srgbClr>
            </a:solidFill>
            <a:prstDash val="solid"/>
          </a:ln>
        </p:spPr>
      </p:sp>
      <p:sp>
        <p:nvSpPr>
          <p:cNvPr id="12" name="Shape 10"/>
          <p:cNvSpPr/>
          <p:nvPr/>
        </p:nvSpPr>
        <p:spPr>
          <a:xfrm>
            <a:off x="9802231" y="5885078"/>
            <a:ext cx="719267" cy="273406"/>
          </a:xfrm>
          <a:prstGeom prst="line">
            <a:avLst/>
          </a:prstGeom>
          <a:noFill/>
          <a:ln w="9525">
            <a:solidFill>
              <a:srgbClr val="6FBFAE">
                <a:alpha val="45000"/>
              </a:srgbClr>
            </a:solidFill>
            <a:prstDash val="solid"/>
          </a:ln>
        </p:spPr>
      </p:sp>
      <p:sp>
        <p:nvSpPr>
          <p:cNvPr id="13" name="Shape 11"/>
          <p:cNvSpPr/>
          <p:nvPr/>
        </p:nvSpPr>
        <p:spPr>
          <a:xfrm>
            <a:off x="8682182" y="4371746"/>
            <a:ext cx="82296" cy="82296"/>
          </a:xfrm>
          <a:prstGeom prst="ellipse">
            <a:avLst/>
          </a:prstGeom>
          <a:solidFill>
            <a:srgbClr val="6FBFAE">
              <a:alpha val="90000"/>
            </a:srgbClr>
          </a:solidFill>
          <a:ln/>
        </p:spPr>
      </p:sp>
      <p:sp>
        <p:nvSpPr>
          <p:cNvPr id="14" name="Shape 12"/>
          <p:cNvSpPr/>
          <p:nvPr/>
        </p:nvSpPr>
        <p:spPr>
          <a:xfrm>
            <a:off x="10136718" y="4871466"/>
            <a:ext cx="50292" cy="50292"/>
          </a:xfrm>
          <a:prstGeom prst="ellipse">
            <a:avLst/>
          </a:prstGeom>
          <a:solidFill>
            <a:srgbClr val="6FBFAE">
              <a:alpha val="60000"/>
            </a:srgbClr>
          </a:solidFill>
          <a:ln/>
        </p:spPr>
      </p:sp>
      <p:sp>
        <p:nvSpPr>
          <p:cNvPr id="15" name="Shape 13"/>
          <p:cNvSpPr/>
          <p:nvPr/>
        </p:nvSpPr>
        <p:spPr>
          <a:xfrm>
            <a:off x="9057818" y="5292090"/>
            <a:ext cx="50292" cy="50292"/>
          </a:xfrm>
          <a:prstGeom prst="ellipse">
            <a:avLst/>
          </a:prstGeom>
          <a:solidFill>
            <a:srgbClr val="6FBFAE">
              <a:alpha val="90000"/>
            </a:srgbClr>
          </a:solidFill>
          <a:ln/>
        </p:spPr>
      </p:sp>
      <p:sp>
        <p:nvSpPr>
          <p:cNvPr id="16" name="Shape 14"/>
          <p:cNvSpPr/>
          <p:nvPr/>
        </p:nvSpPr>
        <p:spPr>
          <a:xfrm>
            <a:off x="10839983" y="5423306"/>
            <a:ext cx="82296" cy="82296"/>
          </a:xfrm>
          <a:prstGeom prst="ellipse">
            <a:avLst/>
          </a:prstGeom>
          <a:solidFill>
            <a:srgbClr val="6FBFAE">
              <a:alpha val="60000"/>
            </a:srgbClr>
          </a:solidFill>
          <a:ln/>
        </p:spPr>
      </p:sp>
      <p:sp>
        <p:nvSpPr>
          <p:cNvPr id="17" name="Shape 15"/>
          <p:cNvSpPr/>
          <p:nvPr/>
        </p:nvSpPr>
        <p:spPr>
          <a:xfrm>
            <a:off x="9777085" y="5859932"/>
            <a:ext cx="50292" cy="50292"/>
          </a:xfrm>
          <a:prstGeom prst="ellipse">
            <a:avLst/>
          </a:prstGeom>
          <a:solidFill>
            <a:srgbClr val="6FBFAE">
              <a:alpha val="90000"/>
            </a:srgbClr>
          </a:solidFill>
          <a:ln/>
        </p:spPr>
      </p:sp>
      <p:sp>
        <p:nvSpPr>
          <p:cNvPr id="18" name="Shape 16"/>
          <p:cNvSpPr/>
          <p:nvPr/>
        </p:nvSpPr>
        <p:spPr>
          <a:xfrm>
            <a:off x="11215619" y="4513936"/>
            <a:ext cx="50292" cy="50292"/>
          </a:xfrm>
          <a:prstGeom prst="ellipse">
            <a:avLst/>
          </a:prstGeom>
          <a:solidFill>
            <a:srgbClr val="6FBFAE">
              <a:alpha val="60000"/>
            </a:srgbClr>
          </a:solidFill>
          <a:ln/>
        </p:spPr>
      </p:sp>
      <p:sp>
        <p:nvSpPr>
          <p:cNvPr id="19" name="Shape 17"/>
          <p:cNvSpPr/>
          <p:nvPr/>
        </p:nvSpPr>
        <p:spPr>
          <a:xfrm>
            <a:off x="8502366" y="5907024"/>
            <a:ext cx="82296" cy="82296"/>
          </a:xfrm>
          <a:prstGeom prst="ellipse">
            <a:avLst/>
          </a:prstGeom>
          <a:solidFill>
            <a:srgbClr val="6FBFAE">
              <a:alpha val="90000"/>
            </a:srgbClr>
          </a:solidFill>
          <a:ln/>
        </p:spPr>
      </p:sp>
      <p:sp>
        <p:nvSpPr>
          <p:cNvPr id="20" name="Shape 18"/>
          <p:cNvSpPr/>
          <p:nvPr/>
        </p:nvSpPr>
        <p:spPr>
          <a:xfrm>
            <a:off x="10496352" y="6133338"/>
            <a:ext cx="50292" cy="50292"/>
          </a:xfrm>
          <a:prstGeom prst="ellipse">
            <a:avLst/>
          </a:prstGeom>
          <a:solidFill>
            <a:srgbClr val="6FBFAE">
              <a:alpha val="60000"/>
            </a:srgbClr>
          </a:solidFill>
          <a:ln/>
        </p:spPr>
      </p:sp>
      <p:sp>
        <p:nvSpPr>
          <p:cNvPr id="21" name="Text 19"/>
          <p:cNvSpPr/>
          <p:nvPr/>
        </p:nvSpPr>
        <p:spPr>
          <a:xfrm>
            <a:off x="502920" y="292608"/>
            <a:ext cx="6995160" cy="630936"/>
          </a:xfrm>
          <a:prstGeom prst="rect">
            <a:avLst/>
          </a:prstGeom>
          <a:noFill/>
          <a:ln/>
        </p:spPr>
        <p:txBody>
          <a:bodyPr wrap="square" lIns="0" tIns="0" rIns="0" bIns="0" rtlCol="0" anchor="ctr"/>
          <a:lstStyle/>
          <a:p>
            <a:pPr marL="0" indent="0">
              <a:buNone/>
            </a:pPr>
            <a:r>
              <a:rPr lang="en-US" b="1" kern="0" spc="120" dirty="0">
                <a:solidFill>
                  <a:srgbClr val="1F8A70"/>
                </a:solidFill>
                <a:latin typeface="Arial" pitchFamily="34" charset="0"/>
                <a:ea typeface="Arial" pitchFamily="34" charset="-122"/>
                <a:cs typeface="Arial" pitchFamily="34" charset="-120"/>
              </a:rPr>
              <a:t>PROCUREBOT — INTELLIGENT PROCUREMENT &amp; VENDOR Q&amp;A ASSISTANT</a:t>
            </a:r>
            <a:endParaRPr lang="en-US" dirty="0"/>
          </a:p>
        </p:txBody>
      </p:sp>
      <p:sp>
        <p:nvSpPr>
          <p:cNvPr id="23" name="Text 21"/>
          <p:cNvSpPr/>
          <p:nvPr/>
        </p:nvSpPr>
        <p:spPr>
          <a:xfrm>
            <a:off x="502920" y="1170432"/>
            <a:ext cx="6995160" cy="256032"/>
          </a:xfrm>
          <a:prstGeom prst="rect">
            <a:avLst/>
          </a:prstGeom>
          <a:noFill/>
          <a:ln/>
        </p:spPr>
        <p:txBody>
          <a:bodyPr wrap="square" lIns="0" tIns="0" rIns="0" bIns="0" rtlCol="0" anchor="ctr"/>
          <a:lstStyle/>
          <a:p>
            <a:pPr marL="0" indent="0">
              <a:buNone/>
            </a:pPr>
            <a:r>
              <a:rPr lang="en-US" sz="1200" b="1" kern="0" spc="100" dirty="0">
                <a:solidFill>
                  <a:srgbClr val="7C8C90"/>
                </a:solidFill>
                <a:latin typeface="Arial" pitchFamily="34" charset="0"/>
                <a:ea typeface="Arial" pitchFamily="34" charset="-122"/>
                <a:cs typeface="Arial" pitchFamily="34" charset="-120"/>
              </a:rPr>
              <a:t>PROBLEM STATEMENT</a:t>
            </a:r>
            <a:endParaRPr lang="en-US" sz="1200" dirty="0"/>
          </a:p>
        </p:txBody>
      </p:sp>
      <p:sp>
        <p:nvSpPr>
          <p:cNvPr id="24" name="Text 22"/>
          <p:cNvSpPr/>
          <p:nvPr/>
        </p:nvSpPr>
        <p:spPr>
          <a:xfrm>
            <a:off x="502920" y="1426464"/>
            <a:ext cx="6995160" cy="1371600"/>
          </a:xfrm>
          <a:prstGeom prst="rect">
            <a:avLst/>
          </a:prstGeom>
          <a:noFill/>
          <a:ln/>
        </p:spPr>
        <p:txBody>
          <a:bodyPr wrap="square" lIns="0" tIns="0" rIns="0" bIns="0" rtlCol="0" anchor="t"/>
          <a:lstStyle/>
          <a:p>
            <a:pPr marL="0" indent="0" algn="l">
              <a:lnSpc>
                <a:spcPct val="112000"/>
              </a:lnSpc>
              <a:spcAft>
                <a:spcPts val="800"/>
              </a:spcAft>
              <a:buNone/>
            </a:pPr>
            <a:r>
              <a:rPr lang="en-US" sz="1200" dirty="0">
                <a:solidFill>
                  <a:srgbClr val="44535A"/>
                </a:solidFill>
                <a:latin typeface="Calibri" pitchFamily="34" charset="0"/>
                <a:ea typeface="Calibri" pitchFamily="34" charset="-122"/>
                <a:cs typeface="Calibri" pitchFamily="34" charset="-120"/>
              </a:rPr>
              <a:t>Procurement teams in manufacturing firms spend 3–4 hours daily searching purchase orders, vendor quotations, contracts, invoices, supplier scorecards and policies scattered across PDFs, Excel files, Word documents and ERP exports.</a:t>
            </a:r>
            <a:endParaRPr lang="en-US" sz="1200" dirty="0"/>
          </a:p>
          <a:p>
            <a:pPr marL="0" indent="0" algn="l">
              <a:lnSpc>
                <a:spcPct val="112000"/>
              </a:lnSpc>
              <a:buNone/>
            </a:pPr>
            <a:r>
              <a:rPr lang="en-US" sz="1200" dirty="0">
                <a:solidFill>
                  <a:srgbClr val="44535A"/>
                </a:solidFill>
                <a:latin typeface="Calibri" pitchFamily="34" charset="0"/>
                <a:ea typeface="Calibri" pitchFamily="34" charset="-122"/>
                <a:cs typeface="Calibri" pitchFamily="34" charset="-120"/>
              </a:rPr>
              <a:t>This causes missed contract clauses, purchases from unapproved or non-compliant vendors, difficulty comparing vendor performance, and slow, manual RFQ creation — leading to procurement cycle delays and compliance risk.</a:t>
            </a:r>
            <a:endParaRPr lang="en-US" sz="1200" dirty="0"/>
          </a:p>
        </p:txBody>
      </p:sp>
      <p:sp>
        <p:nvSpPr>
          <p:cNvPr id="25" name="Text 23"/>
          <p:cNvSpPr/>
          <p:nvPr/>
        </p:nvSpPr>
        <p:spPr>
          <a:xfrm>
            <a:off x="502920" y="2999232"/>
            <a:ext cx="6995160" cy="256032"/>
          </a:xfrm>
          <a:prstGeom prst="rect">
            <a:avLst/>
          </a:prstGeom>
          <a:noFill/>
          <a:ln/>
        </p:spPr>
        <p:txBody>
          <a:bodyPr wrap="square" lIns="0" tIns="0" rIns="0" bIns="0" rtlCol="0" anchor="ctr"/>
          <a:lstStyle/>
          <a:p>
            <a:pPr marL="0" indent="0">
              <a:buNone/>
            </a:pPr>
            <a:r>
              <a:rPr lang="en-US" sz="1200" b="1" kern="0" spc="100" dirty="0">
                <a:solidFill>
                  <a:srgbClr val="7C8C90"/>
                </a:solidFill>
                <a:latin typeface="Arial" pitchFamily="34" charset="0"/>
                <a:ea typeface="Arial" pitchFamily="34" charset="-122"/>
                <a:cs typeface="Arial" pitchFamily="34" charset="-120"/>
              </a:rPr>
              <a:t>OBJECTIVES</a:t>
            </a:r>
            <a:endParaRPr lang="en-US" sz="1200" dirty="0"/>
          </a:p>
        </p:txBody>
      </p:sp>
      <p:sp>
        <p:nvSpPr>
          <p:cNvPr id="26" name="Text 24"/>
          <p:cNvSpPr/>
          <p:nvPr/>
        </p:nvSpPr>
        <p:spPr>
          <a:xfrm>
            <a:off x="502920" y="3328416"/>
            <a:ext cx="3369564" cy="457200"/>
          </a:xfrm>
          <a:prstGeom prst="rect">
            <a:avLst/>
          </a:prstGeom>
          <a:noFill/>
          <a:ln/>
        </p:spPr>
        <p:txBody>
          <a:bodyPr wrap="square" lIns="0" tIns="0" rIns="0" bIns="0" rtlCol="0" anchor="t"/>
          <a:lstStyle/>
          <a:p>
            <a:pPr marL="0" indent="0">
              <a:lnSpc>
                <a:spcPct val="100000"/>
              </a:lnSpc>
              <a:buNone/>
            </a:pPr>
            <a:r>
              <a:rPr lang="en-US" sz="1500" b="1" dirty="0">
                <a:solidFill>
                  <a:srgbClr val="1F8A70"/>
                </a:solidFill>
                <a:latin typeface="Arial" pitchFamily="34" charset="0"/>
                <a:ea typeface="Arial" pitchFamily="34" charset="-122"/>
                <a:cs typeface="Arial" pitchFamily="34" charset="-120"/>
              </a:rPr>
              <a:t>01  </a:t>
            </a:r>
            <a:r>
              <a:rPr lang="en-US" sz="1250" b="1" dirty="0">
                <a:solidFill>
                  <a:srgbClr val="132A3A"/>
                </a:solidFill>
                <a:latin typeface="Arial" pitchFamily="34" charset="0"/>
                <a:ea typeface="Arial" pitchFamily="34" charset="-122"/>
                <a:cs typeface="Arial" pitchFamily="34" charset="-120"/>
              </a:rPr>
              <a:t>Build a hybrid RAG procurement assistant</a:t>
            </a:r>
            <a:endParaRPr lang="en-US" sz="1500" dirty="0"/>
          </a:p>
        </p:txBody>
      </p:sp>
      <p:sp>
        <p:nvSpPr>
          <p:cNvPr id="27" name="Text 25"/>
          <p:cNvSpPr/>
          <p:nvPr/>
        </p:nvSpPr>
        <p:spPr>
          <a:xfrm>
            <a:off x="502920" y="3749040"/>
            <a:ext cx="3369564" cy="1115568"/>
          </a:xfrm>
          <a:prstGeom prst="rect">
            <a:avLst/>
          </a:prstGeom>
          <a:noFill/>
          <a:ln/>
        </p:spPr>
        <p:txBody>
          <a:bodyPr wrap="square" lIns="0" tIns="0" rIns="0" bIns="0" rtlCol="0" anchor="t"/>
          <a:lstStyle/>
          <a:p>
            <a:pPr marL="0" indent="0">
              <a:lnSpc>
                <a:spcPct val="112000"/>
              </a:lnSpc>
              <a:buNone/>
            </a:pPr>
            <a:r>
              <a:rPr lang="en-US" sz="1050" dirty="0">
                <a:solidFill>
                  <a:srgbClr val="44535A"/>
                </a:solidFill>
                <a:latin typeface="Calibri" pitchFamily="34" charset="0"/>
                <a:ea typeface="Calibri" pitchFamily="34" charset="-122"/>
                <a:cs typeface="Calibri" pitchFamily="34" charset="-120"/>
              </a:rPr>
              <a:t>Ingest POs, invoices, contracts, supplier scorecards and policies, then retrieve context using combined vector, keyword and metadata search.</a:t>
            </a:r>
            <a:endParaRPr lang="en-US" sz="1050" dirty="0"/>
          </a:p>
        </p:txBody>
      </p:sp>
      <p:sp>
        <p:nvSpPr>
          <p:cNvPr id="28" name="Text 26"/>
          <p:cNvSpPr/>
          <p:nvPr/>
        </p:nvSpPr>
        <p:spPr>
          <a:xfrm>
            <a:off x="4128516" y="3328416"/>
            <a:ext cx="3369564" cy="457200"/>
          </a:xfrm>
          <a:prstGeom prst="rect">
            <a:avLst/>
          </a:prstGeom>
          <a:noFill/>
          <a:ln/>
        </p:spPr>
        <p:txBody>
          <a:bodyPr wrap="square" lIns="0" tIns="0" rIns="0" bIns="0" rtlCol="0" anchor="t"/>
          <a:lstStyle/>
          <a:p>
            <a:pPr marL="0" indent="0">
              <a:lnSpc>
                <a:spcPct val="100000"/>
              </a:lnSpc>
              <a:buNone/>
            </a:pPr>
            <a:r>
              <a:rPr lang="en-US" sz="1500" b="1" dirty="0">
                <a:solidFill>
                  <a:srgbClr val="1F8A70"/>
                </a:solidFill>
                <a:latin typeface="Arial" pitchFamily="34" charset="0"/>
                <a:ea typeface="Arial" pitchFamily="34" charset="-122"/>
                <a:cs typeface="Arial" pitchFamily="34" charset="-120"/>
              </a:rPr>
              <a:t>02  </a:t>
            </a:r>
            <a:r>
              <a:rPr lang="en-US" sz="1250" b="1" dirty="0">
                <a:solidFill>
                  <a:srgbClr val="132A3A"/>
                </a:solidFill>
                <a:latin typeface="Arial" pitchFamily="34" charset="0"/>
                <a:ea typeface="Arial" pitchFamily="34" charset="-122"/>
                <a:cs typeface="Arial" pitchFamily="34" charset="-120"/>
              </a:rPr>
              <a:t>Automate compliance checking</a:t>
            </a:r>
            <a:endParaRPr lang="en-US" sz="1500" dirty="0"/>
          </a:p>
        </p:txBody>
      </p:sp>
      <p:sp>
        <p:nvSpPr>
          <p:cNvPr id="29" name="Text 27"/>
          <p:cNvSpPr/>
          <p:nvPr/>
        </p:nvSpPr>
        <p:spPr>
          <a:xfrm>
            <a:off x="4128516" y="3749040"/>
            <a:ext cx="3369564" cy="1115568"/>
          </a:xfrm>
          <a:prstGeom prst="rect">
            <a:avLst/>
          </a:prstGeom>
          <a:noFill/>
          <a:ln/>
        </p:spPr>
        <p:txBody>
          <a:bodyPr wrap="square" lIns="0" tIns="0" rIns="0" bIns="0" rtlCol="0" anchor="t"/>
          <a:lstStyle/>
          <a:p>
            <a:pPr marL="0" indent="0">
              <a:lnSpc>
                <a:spcPct val="112000"/>
              </a:lnSpc>
              <a:buNone/>
            </a:pPr>
            <a:r>
              <a:rPr lang="en-US" sz="1050" dirty="0">
                <a:solidFill>
                  <a:srgbClr val="44535A"/>
                </a:solidFill>
                <a:latin typeface="Calibri" pitchFamily="34" charset="0"/>
                <a:ea typeface="Calibri" pitchFamily="34" charset="-122"/>
                <a:cs typeface="Calibri" pitchFamily="34" charset="-120"/>
              </a:rPr>
              <a:t>Apply rule-based policy checks — approval thresholds, quotation counts, vendor status — alongside RAG evidence to flag violations instantly.</a:t>
            </a:r>
            <a:endParaRPr lang="en-US" sz="1050" dirty="0"/>
          </a:p>
        </p:txBody>
      </p:sp>
      <p:sp>
        <p:nvSpPr>
          <p:cNvPr id="30" name="Text 28"/>
          <p:cNvSpPr/>
          <p:nvPr/>
        </p:nvSpPr>
        <p:spPr>
          <a:xfrm>
            <a:off x="502920" y="4974336"/>
            <a:ext cx="3369564" cy="457200"/>
          </a:xfrm>
          <a:prstGeom prst="rect">
            <a:avLst/>
          </a:prstGeom>
          <a:noFill/>
          <a:ln/>
        </p:spPr>
        <p:txBody>
          <a:bodyPr wrap="square" lIns="0" tIns="0" rIns="0" bIns="0" rtlCol="0" anchor="t"/>
          <a:lstStyle/>
          <a:p>
            <a:pPr marL="0" indent="0">
              <a:lnSpc>
                <a:spcPct val="100000"/>
              </a:lnSpc>
              <a:buNone/>
            </a:pPr>
            <a:r>
              <a:rPr lang="en-US" sz="1500" b="1" dirty="0">
                <a:solidFill>
                  <a:srgbClr val="1F8A70"/>
                </a:solidFill>
                <a:latin typeface="Arial" pitchFamily="34" charset="0"/>
                <a:ea typeface="Arial" pitchFamily="34" charset="-122"/>
                <a:cs typeface="Arial" pitchFamily="34" charset="-120"/>
              </a:rPr>
              <a:t>03  </a:t>
            </a:r>
            <a:r>
              <a:rPr lang="en-US" sz="1250" b="1" dirty="0">
                <a:solidFill>
                  <a:srgbClr val="132A3A"/>
                </a:solidFill>
                <a:latin typeface="Arial" pitchFamily="34" charset="0"/>
                <a:ea typeface="Arial" pitchFamily="34" charset="-122"/>
                <a:cs typeface="Arial" pitchFamily="34" charset="-120"/>
              </a:rPr>
              <a:t>Deliver vendor intelligence &amp; RFQs</a:t>
            </a:r>
            <a:endParaRPr lang="en-US" sz="1500" dirty="0"/>
          </a:p>
        </p:txBody>
      </p:sp>
      <p:sp>
        <p:nvSpPr>
          <p:cNvPr id="31" name="Text 29"/>
          <p:cNvSpPr/>
          <p:nvPr/>
        </p:nvSpPr>
        <p:spPr>
          <a:xfrm>
            <a:off x="502920" y="5394960"/>
            <a:ext cx="3369564" cy="1115568"/>
          </a:xfrm>
          <a:prstGeom prst="rect">
            <a:avLst/>
          </a:prstGeom>
          <a:noFill/>
          <a:ln/>
        </p:spPr>
        <p:txBody>
          <a:bodyPr wrap="square" lIns="0" tIns="0" rIns="0" bIns="0" rtlCol="0" anchor="t"/>
          <a:lstStyle/>
          <a:p>
            <a:pPr marL="0" indent="0">
              <a:lnSpc>
                <a:spcPct val="112000"/>
              </a:lnSpc>
              <a:buNone/>
            </a:pPr>
            <a:r>
              <a:rPr lang="en-US" sz="1050" dirty="0">
                <a:solidFill>
                  <a:srgbClr val="44535A"/>
                </a:solidFill>
                <a:latin typeface="Calibri" pitchFamily="34" charset="0"/>
                <a:ea typeface="Calibri" pitchFamily="34" charset="-122"/>
                <a:cs typeface="Calibri" pitchFamily="34" charset="-120"/>
              </a:rPr>
              <a:t>Score and compare vendor performance, then auto-draft RFQ emails from plain-language purchase requirements.</a:t>
            </a:r>
            <a:endParaRPr lang="en-US" sz="1050" dirty="0"/>
          </a:p>
        </p:txBody>
      </p:sp>
      <p:sp>
        <p:nvSpPr>
          <p:cNvPr id="32" name="Text 30"/>
          <p:cNvSpPr/>
          <p:nvPr/>
        </p:nvSpPr>
        <p:spPr>
          <a:xfrm>
            <a:off x="4128516" y="4974336"/>
            <a:ext cx="3369564" cy="457200"/>
          </a:xfrm>
          <a:prstGeom prst="rect">
            <a:avLst/>
          </a:prstGeom>
          <a:noFill/>
          <a:ln/>
        </p:spPr>
        <p:txBody>
          <a:bodyPr wrap="square" lIns="0" tIns="0" rIns="0" bIns="0" rtlCol="0" anchor="t"/>
          <a:lstStyle/>
          <a:p>
            <a:pPr marL="0" indent="0">
              <a:lnSpc>
                <a:spcPct val="100000"/>
              </a:lnSpc>
              <a:buNone/>
            </a:pPr>
            <a:r>
              <a:rPr lang="en-US" sz="1500" b="1" dirty="0">
                <a:solidFill>
                  <a:srgbClr val="1F8A70"/>
                </a:solidFill>
                <a:latin typeface="Arial" pitchFamily="34" charset="0"/>
                <a:ea typeface="Arial" pitchFamily="34" charset="-122"/>
                <a:cs typeface="Arial" pitchFamily="34" charset="-120"/>
              </a:rPr>
              <a:t>04  </a:t>
            </a:r>
            <a:r>
              <a:rPr lang="en-US" sz="1250" b="1" dirty="0">
                <a:solidFill>
                  <a:srgbClr val="132A3A"/>
                </a:solidFill>
                <a:latin typeface="Arial" pitchFamily="34" charset="0"/>
                <a:ea typeface="Arial" pitchFamily="34" charset="-122"/>
                <a:cs typeface="Arial" pitchFamily="34" charset="-120"/>
              </a:rPr>
              <a:t>Ground every answer in evidence</a:t>
            </a:r>
            <a:endParaRPr lang="en-US" sz="1500" dirty="0"/>
          </a:p>
        </p:txBody>
      </p:sp>
      <p:sp>
        <p:nvSpPr>
          <p:cNvPr id="33" name="Text 31"/>
          <p:cNvSpPr/>
          <p:nvPr/>
        </p:nvSpPr>
        <p:spPr>
          <a:xfrm>
            <a:off x="4128516" y="5394960"/>
            <a:ext cx="3369564" cy="1115568"/>
          </a:xfrm>
          <a:prstGeom prst="rect">
            <a:avLst/>
          </a:prstGeom>
          <a:noFill/>
          <a:ln/>
        </p:spPr>
        <p:txBody>
          <a:bodyPr wrap="square" lIns="0" tIns="0" rIns="0" bIns="0" rtlCol="0" anchor="t"/>
          <a:lstStyle/>
          <a:p>
            <a:pPr marL="0" indent="0">
              <a:lnSpc>
                <a:spcPct val="112000"/>
              </a:lnSpc>
              <a:buNone/>
            </a:pPr>
            <a:r>
              <a:rPr lang="en-US" sz="1050" dirty="0">
                <a:solidFill>
                  <a:srgbClr val="44535A"/>
                </a:solidFill>
                <a:latin typeface="Calibri" pitchFamily="34" charset="0"/>
                <a:ea typeface="Calibri" pitchFamily="34" charset="-122"/>
                <a:cs typeface="Calibri" pitchFamily="34" charset="-120"/>
              </a:rPr>
              <a:t>Cite the source document, page and section for every response, and sync new files automatically through folder-watch ingestion.</a:t>
            </a:r>
            <a:endParaRPr lang="en-US" sz="1050" dirty="0"/>
          </a:p>
        </p:txBody>
      </p:sp>
      <p:sp>
        <p:nvSpPr>
          <p:cNvPr id="34" name="Text 32"/>
          <p:cNvSpPr/>
          <p:nvPr/>
        </p:nvSpPr>
        <p:spPr>
          <a:xfrm>
            <a:off x="8275320" y="457200"/>
            <a:ext cx="3596335" cy="36576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TECHNICAL STACK</a:t>
            </a:r>
            <a:endParaRPr lang="en-US" sz="1900" dirty="0"/>
          </a:p>
        </p:txBody>
      </p:sp>
      <p:sp>
        <p:nvSpPr>
          <p:cNvPr id="35" name="Shape 33"/>
          <p:cNvSpPr/>
          <p:nvPr/>
        </p:nvSpPr>
        <p:spPr>
          <a:xfrm>
            <a:off x="8275320" y="896112"/>
            <a:ext cx="502920" cy="27432"/>
          </a:xfrm>
          <a:prstGeom prst="rect">
            <a:avLst/>
          </a:prstGeom>
          <a:solidFill>
            <a:srgbClr val="1F8A70"/>
          </a:solidFill>
          <a:ln/>
        </p:spPr>
      </p:sp>
      <p:sp>
        <p:nvSpPr>
          <p:cNvPr id="36" name="Text 34"/>
          <p:cNvSpPr/>
          <p:nvPr/>
        </p:nvSpPr>
        <p:spPr>
          <a:xfrm>
            <a:off x="8275320" y="1170432"/>
            <a:ext cx="3596335" cy="5120640"/>
          </a:xfrm>
          <a:prstGeom prst="rect">
            <a:avLst/>
          </a:prstGeom>
          <a:noFill/>
          <a:ln/>
        </p:spPr>
        <p:txBody>
          <a:bodyPr wrap="square" lIns="0" tIns="0" rIns="0" bIns="0" rtlCol="0" anchor="t"/>
          <a:lstStyle/>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Document Parsing: </a:t>
            </a:r>
            <a:r>
              <a:rPr lang="en-US" sz="1400" dirty="0">
                <a:solidFill>
                  <a:srgbClr val="C9D6D3"/>
                </a:solidFill>
                <a:latin typeface="Calibri" pitchFamily="34" charset="0"/>
                <a:ea typeface="Calibri" pitchFamily="34" charset="-122"/>
                <a:cs typeface="Calibri" pitchFamily="34" charset="-120"/>
              </a:rPr>
              <a:t>Unstructured OSS + Camelot</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Embeddings: </a:t>
            </a:r>
            <a:r>
              <a:rPr lang="en-US" sz="1400" dirty="0">
                <a:solidFill>
                  <a:srgbClr val="C9D6D3"/>
                </a:solidFill>
                <a:latin typeface="Calibri" pitchFamily="34" charset="0"/>
                <a:ea typeface="Calibri" pitchFamily="34" charset="-122"/>
                <a:cs typeface="Calibri" pitchFamily="34" charset="-120"/>
              </a:rPr>
              <a:t>nomic-embed-text (Ollama)</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Vector Database: </a:t>
            </a:r>
            <a:r>
              <a:rPr lang="en-US" sz="1400" dirty="0">
                <a:solidFill>
                  <a:srgbClr val="C9D6D3"/>
                </a:solidFill>
                <a:latin typeface="Calibri" pitchFamily="34" charset="0"/>
                <a:ea typeface="Calibri" pitchFamily="34" charset="-122"/>
                <a:cs typeface="Calibri" pitchFamily="34" charset="-120"/>
              </a:rPr>
              <a:t>Qdrant</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LLM: </a:t>
            </a:r>
            <a:r>
              <a:rPr lang="en-US" sz="1400" dirty="0">
                <a:solidFill>
                  <a:srgbClr val="C9D6D3"/>
                </a:solidFill>
                <a:latin typeface="Calibri" pitchFamily="34" charset="0"/>
                <a:ea typeface="Calibri" pitchFamily="34" charset="-122"/>
                <a:cs typeface="Calibri" pitchFamily="34" charset="-120"/>
              </a:rPr>
              <a:t>Ollama + Llama 3.1 8B</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RAG Framework: </a:t>
            </a:r>
            <a:r>
              <a:rPr lang="en-US" sz="1400" dirty="0">
                <a:solidFill>
                  <a:srgbClr val="C9D6D3"/>
                </a:solidFill>
                <a:latin typeface="Calibri" pitchFamily="34" charset="0"/>
                <a:ea typeface="Calibri" pitchFamily="34" charset="-122"/>
                <a:cs typeface="Calibri" pitchFamily="34" charset="-120"/>
              </a:rPr>
              <a:t>LlamaIndex</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Backend: </a:t>
            </a:r>
            <a:r>
              <a:rPr lang="en-US" sz="1400" dirty="0">
                <a:solidFill>
                  <a:srgbClr val="C9D6D3"/>
                </a:solidFill>
                <a:latin typeface="Calibri" pitchFamily="34" charset="0"/>
                <a:ea typeface="Calibri" pitchFamily="34" charset="-122"/>
                <a:cs typeface="Calibri" pitchFamily="34" charset="-120"/>
              </a:rPr>
              <a:t>FastAPI + Pydantic</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Storage: </a:t>
            </a:r>
            <a:r>
              <a:rPr lang="en-US" sz="1400" dirty="0">
                <a:solidFill>
                  <a:srgbClr val="C9D6D3"/>
                </a:solidFill>
                <a:latin typeface="Calibri" pitchFamily="34" charset="0"/>
                <a:ea typeface="Calibri" pitchFamily="34" charset="-122"/>
                <a:cs typeface="Calibri" pitchFamily="34" charset="-120"/>
              </a:rPr>
              <a:t>PostgreSQL + MinIO</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Frontend: </a:t>
            </a:r>
            <a:r>
              <a:rPr lang="en-US" sz="1400" dirty="0">
                <a:solidFill>
                  <a:srgbClr val="C9D6D3"/>
                </a:solidFill>
                <a:latin typeface="Calibri" pitchFamily="34" charset="0"/>
                <a:ea typeface="Calibri" pitchFamily="34" charset="-122"/>
                <a:cs typeface="Calibri" pitchFamily="34" charset="-120"/>
              </a:rPr>
              <a:t>React</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Teams Bot: </a:t>
            </a:r>
            <a:r>
              <a:rPr lang="en-US" sz="1400" dirty="0">
                <a:solidFill>
                  <a:srgbClr val="C9D6D3"/>
                </a:solidFill>
                <a:latin typeface="Calibri" pitchFamily="34" charset="0"/>
                <a:ea typeface="Calibri" pitchFamily="34" charset="-122"/>
                <a:cs typeface="Calibri" pitchFamily="34" charset="-120"/>
              </a:rPr>
              <a:t>Microsoft Bot Framework</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Deployment: </a:t>
            </a:r>
            <a:r>
              <a:rPr lang="en-US" sz="1400" dirty="0">
                <a:solidFill>
                  <a:srgbClr val="C9D6D3"/>
                </a:solidFill>
                <a:latin typeface="Calibri" pitchFamily="34" charset="0"/>
                <a:ea typeface="Calibri" pitchFamily="34" charset="-122"/>
                <a:cs typeface="Calibri" pitchFamily="34" charset="-120"/>
              </a:rPr>
              <a:t>Docker Compose + Nginx</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4"/>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1F8A70"/>
          </a:solidFill>
          <a:ln/>
        </p:spPr>
      </p:sp>
      <p:sp>
        <p:nvSpPr>
          <p:cNvPr id="3" name="Shape 1"/>
          <p:cNvSpPr/>
          <p:nvPr/>
        </p:nvSpPr>
        <p:spPr>
          <a:xfrm>
            <a:off x="0" y="6812280"/>
            <a:ext cx="12191695" cy="45720"/>
          </a:xfrm>
          <a:prstGeom prst="rect">
            <a:avLst/>
          </a:prstGeom>
          <a:solidFill>
            <a:srgbClr val="1F8A70"/>
          </a:solidFill>
          <a:ln/>
        </p:spPr>
      </p:sp>
      <p:sp>
        <p:nvSpPr>
          <p:cNvPr id="4" name="Text 2"/>
          <p:cNvSpPr/>
          <p:nvPr/>
        </p:nvSpPr>
        <p:spPr>
          <a:xfrm>
            <a:off x="502920" y="384048"/>
            <a:ext cx="11155680" cy="548640"/>
          </a:xfrm>
          <a:prstGeom prst="rect">
            <a:avLst/>
          </a:prstGeom>
          <a:noFill/>
          <a:ln/>
        </p:spPr>
        <p:txBody>
          <a:bodyPr wrap="square" lIns="0" tIns="0" rIns="0" bIns="0" rtlCol="0" anchor="ctr"/>
          <a:lstStyle/>
          <a:p>
            <a:pPr marL="0" indent="0">
              <a:buNone/>
            </a:pPr>
            <a:r>
              <a:rPr lang="en-US" sz="3200" b="1" dirty="0">
                <a:solidFill>
                  <a:srgbClr val="132A3A"/>
                </a:solidFill>
                <a:latin typeface="Arial" pitchFamily="34" charset="0"/>
                <a:ea typeface="Arial" pitchFamily="34" charset="-122"/>
                <a:cs typeface="Arial" pitchFamily="34" charset="-120"/>
              </a:rPr>
              <a:t>DATASET &amp; EXPECTED OUTCOME</a:t>
            </a:r>
            <a:endParaRPr lang="en-US" sz="3200" dirty="0"/>
          </a:p>
        </p:txBody>
      </p:sp>
      <p:sp>
        <p:nvSpPr>
          <p:cNvPr id="5" name="Text 3"/>
          <p:cNvSpPr/>
          <p:nvPr/>
        </p:nvSpPr>
        <p:spPr>
          <a:xfrm>
            <a:off x="502920" y="1170432"/>
            <a:ext cx="5440680" cy="310896"/>
          </a:xfrm>
          <a:prstGeom prst="rect">
            <a:avLst/>
          </a:prstGeom>
          <a:noFill/>
          <a:ln/>
        </p:spPr>
        <p:txBody>
          <a:bodyPr wrap="square" lIns="0" tIns="0" rIns="0" bIns="0" rtlCol="0" anchor="ctr"/>
          <a:lstStyle/>
          <a:p>
            <a:pPr marL="0" indent="0">
              <a:buNone/>
            </a:pPr>
            <a:r>
              <a:rPr lang="en-US" sz="1500" b="1" kern="0" spc="100" dirty="0">
                <a:solidFill>
                  <a:srgbClr val="1F8A70"/>
                </a:solidFill>
                <a:latin typeface="Arial" pitchFamily="34" charset="0"/>
                <a:ea typeface="Arial" pitchFamily="34" charset="-122"/>
                <a:cs typeface="Arial" pitchFamily="34" charset="-120"/>
              </a:rPr>
              <a:t>DATASET</a:t>
            </a:r>
            <a:endParaRPr lang="en-US" sz="1500" dirty="0"/>
          </a:p>
        </p:txBody>
      </p:sp>
      <p:sp>
        <p:nvSpPr>
          <p:cNvPr id="6" name="Text 4"/>
          <p:cNvSpPr/>
          <p:nvPr/>
        </p:nvSpPr>
        <p:spPr>
          <a:xfrm>
            <a:off x="502920" y="1572768"/>
            <a:ext cx="5440680" cy="237744"/>
          </a:xfrm>
          <a:prstGeom prst="rect">
            <a:avLst/>
          </a:prstGeom>
          <a:noFill/>
          <a:ln/>
        </p:spPr>
        <p:txBody>
          <a:bodyPr wrap="square" lIns="0" tIns="0" rIns="0" bIns="0" rtlCol="0" anchor="ctr"/>
          <a:lstStyle/>
          <a:p>
            <a:pPr marL="0" indent="0">
              <a:buNone/>
            </a:pPr>
            <a:r>
              <a:rPr lang="en-US" sz="1050" b="1" kern="0" spc="80" dirty="0">
                <a:solidFill>
                  <a:srgbClr val="7C8C90"/>
                </a:solidFill>
                <a:latin typeface="Arial" pitchFamily="34" charset="0"/>
                <a:ea typeface="Arial" pitchFamily="34" charset="-122"/>
                <a:cs typeface="Arial" pitchFamily="34" charset="-120"/>
              </a:rPr>
              <a:t>PUBLIC DATA (~30%)</a:t>
            </a:r>
            <a:endParaRPr lang="en-US" sz="1050" dirty="0"/>
          </a:p>
        </p:txBody>
      </p:sp>
      <p:sp>
        <p:nvSpPr>
          <p:cNvPr id="7" name="Text 5"/>
          <p:cNvSpPr/>
          <p:nvPr/>
        </p:nvSpPr>
        <p:spPr>
          <a:xfrm>
            <a:off x="502920" y="1847088"/>
            <a:ext cx="5440680" cy="466344"/>
          </a:xfrm>
          <a:prstGeom prst="rect">
            <a:avLst/>
          </a:prstGeom>
          <a:noFill/>
          <a:ln/>
        </p:spPr>
        <p:txBody>
          <a:bodyPr wrap="square" lIns="0" tIns="0" rIns="0" bIns="0" rtlCol="0" anchor="t"/>
          <a:lstStyle/>
          <a:p>
            <a:pPr marL="177800" indent="-177800">
              <a:lnSpc>
                <a:spcPct val="112000"/>
              </a:lnSpc>
              <a:buSzPct val="100000"/>
              <a:buChar char="•"/>
            </a:pPr>
            <a:r>
              <a:rPr lang="en-US" sz="1100" dirty="0">
                <a:solidFill>
                  <a:srgbClr val="44535A"/>
                </a:solidFill>
                <a:latin typeface="Calibri" pitchFamily="34" charset="0"/>
                <a:ea typeface="Calibri" pitchFamily="34" charset="-122"/>
                <a:cs typeface="Calibri" pitchFamily="34" charset="-120"/>
              </a:rPr>
              <a:t>Indian public-procurement / tender-award records, MSME Sambandh statistics, and public PO/invoice datasets used for realistic procurement patterns.</a:t>
            </a:r>
            <a:endParaRPr lang="en-US" sz="1100" dirty="0"/>
          </a:p>
        </p:txBody>
      </p:sp>
      <p:sp>
        <p:nvSpPr>
          <p:cNvPr id="8" name="Text 6"/>
          <p:cNvSpPr/>
          <p:nvPr/>
        </p:nvSpPr>
        <p:spPr>
          <a:xfrm>
            <a:off x="502920" y="2459736"/>
            <a:ext cx="5440680" cy="237744"/>
          </a:xfrm>
          <a:prstGeom prst="rect">
            <a:avLst/>
          </a:prstGeom>
          <a:noFill/>
          <a:ln/>
        </p:spPr>
        <p:txBody>
          <a:bodyPr wrap="square" lIns="0" tIns="0" rIns="0" bIns="0" rtlCol="0" anchor="ctr"/>
          <a:lstStyle/>
          <a:p>
            <a:pPr marL="0" indent="0">
              <a:buNone/>
            </a:pPr>
            <a:r>
              <a:rPr lang="en-US" sz="1050" b="1" kern="0" spc="80" dirty="0">
                <a:solidFill>
                  <a:srgbClr val="7C8C90"/>
                </a:solidFill>
                <a:latin typeface="Arial" pitchFamily="34" charset="0"/>
                <a:ea typeface="Arial" pitchFamily="34" charset="-122"/>
                <a:cs typeface="Arial" pitchFamily="34" charset="-120"/>
              </a:rPr>
              <a:t>SYNTHETIC DATA (~70%)</a:t>
            </a:r>
            <a:endParaRPr lang="en-US" sz="1050" dirty="0"/>
          </a:p>
        </p:txBody>
      </p:sp>
      <p:sp>
        <p:nvSpPr>
          <p:cNvPr id="9" name="Text 7"/>
          <p:cNvSpPr/>
          <p:nvPr/>
        </p:nvSpPr>
        <p:spPr>
          <a:xfrm>
            <a:off x="502920" y="2734056"/>
            <a:ext cx="5440680" cy="1147572"/>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100" dirty="0">
                <a:solidFill>
                  <a:srgbClr val="44535A"/>
                </a:solidFill>
                <a:latin typeface="Calibri" pitchFamily="34" charset="0"/>
                <a:ea typeface="Calibri" pitchFamily="34" charset="-122"/>
                <a:cs typeface="Calibri" pitchFamily="34" charset="-120"/>
              </a:rPr>
              <a:t>L&amp;T-style purchase orders, invoices, contracts, policies, vendor lists, supplier scorecards and RFQ templates generated to avoid exposing confidential enterprise data.</a:t>
            </a:r>
            <a:endParaRPr lang="en-US" sz="1100" dirty="0"/>
          </a:p>
          <a:p>
            <a:pPr marL="177800" indent="-177800">
              <a:lnSpc>
                <a:spcPct val="112000"/>
              </a:lnSpc>
              <a:buSzPct val="100000"/>
              <a:buChar char="•"/>
            </a:pPr>
            <a:r>
              <a:rPr lang="en-US" sz="1100" dirty="0">
                <a:solidFill>
                  <a:srgbClr val="44535A"/>
                </a:solidFill>
                <a:latin typeface="Calibri" pitchFamily="34" charset="0"/>
                <a:ea typeface="Calibri" pitchFamily="34" charset="-122"/>
                <a:cs typeface="Calibri" pitchFamily="34" charset="-120"/>
              </a:rPr>
              <a:t>Deliberately planted violations — blocked vendors, missing quotations, expired contracts — to demonstrate the compliance checker.</a:t>
            </a:r>
            <a:endParaRPr lang="en-US" sz="1100" dirty="0"/>
          </a:p>
        </p:txBody>
      </p:sp>
      <p:sp>
        <p:nvSpPr>
          <p:cNvPr id="10" name="Text 8"/>
          <p:cNvSpPr/>
          <p:nvPr/>
        </p:nvSpPr>
        <p:spPr>
          <a:xfrm>
            <a:off x="502920" y="4027932"/>
            <a:ext cx="5440680" cy="237744"/>
          </a:xfrm>
          <a:prstGeom prst="rect">
            <a:avLst/>
          </a:prstGeom>
          <a:noFill/>
          <a:ln/>
        </p:spPr>
        <p:txBody>
          <a:bodyPr wrap="square" lIns="0" tIns="0" rIns="0" bIns="0" rtlCol="0" anchor="ctr"/>
          <a:lstStyle/>
          <a:p>
            <a:pPr marL="0" indent="0">
              <a:buNone/>
            </a:pPr>
            <a:r>
              <a:rPr lang="en-US" sz="1050" b="1" kern="0" spc="80" dirty="0">
                <a:solidFill>
                  <a:srgbClr val="7C8C90"/>
                </a:solidFill>
                <a:latin typeface="Arial" pitchFamily="34" charset="0"/>
                <a:ea typeface="Arial" pitchFamily="34" charset="-122"/>
                <a:cs typeface="Arial" pitchFamily="34" charset="-120"/>
              </a:rPr>
              <a:t>EVALUATION SET</a:t>
            </a:r>
            <a:endParaRPr lang="en-US" sz="1050" dirty="0"/>
          </a:p>
        </p:txBody>
      </p:sp>
      <p:sp>
        <p:nvSpPr>
          <p:cNvPr id="11" name="Text 9"/>
          <p:cNvSpPr/>
          <p:nvPr/>
        </p:nvSpPr>
        <p:spPr>
          <a:xfrm>
            <a:off x="502920" y="4302252"/>
            <a:ext cx="5440680" cy="466344"/>
          </a:xfrm>
          <a:prstGeom prst="rect">
            <a:avLst/>
          </a:prstGeom>
          <a:noFill/>
          <a:ln/>
        </p:spPr>
        <p:txBody>
          <a:bodyPr wrap="square" lIns="0" tIns="0" rIns="0" bIns="0" rtlCol="0" anchor="t"/>
          <a:lstStyle/>
          <a:p>
            <a:pPr marL="177800" indent="-177800">
              <a:lnSpc>
                <a:spcPct val="112000"/>
              </a:lnSpc>
              <a:buSzPct val="100000"/>
              <a:buChar char="•"/>
            </a:pPr>
            <a:r>
              <a:rPr lang="en-US" sz="1100" dirty="0">
                <a:solidFill>
                  <a:srgbClr val="44535A"/>
                </a:solidFill>
                <a:latin typeface="Calibri" pitchFamily="34" charset="0"/>
                <a:ea typeface="Calibri" pitchFamily="34" charset="-122"/>
                <a:cs typeface="Calibri" pitchFamily="34" charset="-120"/>
              </a:rPr>
              <a:t>200–500 RAG question–answer pairs with source references, plus compliant / non-compliant PO pairs for testing the compliance engine.</a:t>
            </a:r>
            <a:endParaRPr lang="en-US" sz="1100" dirty="0"/>
          </a:p>
        </p:txBody>
      </p:sp>
      <p:sp>
        <p:nvSpPr>
          <p:cNvPr id="12" name="Text 10"/>
          <p:cNvSpPr/>
          <p:nvPr/>
        </p:nvSpPr>
        <p:spPr>
          <a:xfrm>
            <a:off x="502920" y="4914900"/>
            <a:ext cx="5440680" cy="237744"/>
          </a:xfrm>
          <a:prstGeom prst="rect">
            <a:avLst/>
          </a:prstGeom>
          <a:noFill/>
          <a:ln/>
        </p:spPr>
        <p:txBody>
          <a:bodyPr wrap="square" lIns="0" tIns="0" rIns="0" bIns="0" rtlCol="0" anchor="ctr"/>
          <a:lstStyle/>
          <a:p>
            <a:pPr marL="0" indent="0">
              <a:buNone/>
            </a:pPr>
            <a:r>
              <a:rPr lang="en-US" sz="1050" b="1" kern="0" spc="80" dirty="0">
                <a:solidFill>
                  <a:srgbClr val="7C8C90"/>
                </a:solidFill>
                <a:latin typeface="Arial" pitchFamily="34" charset="0"/>
                <a:ea typeface="Arial" pitchFamily="34" charset="-122"/>
                <a:cs typeface="Arial" pitchFamily="34" charset="-120"/>
              </a:rPr>
              <a:t>RELEVANCE</a:t>
            </a:r>
            <a:endParaRPr lang="en-US" sz="1050" dirty="0"/>
          </a:p>
        </p:txBody>
      </p:sp>
      <p:sp>
        <p:nvSpPr>
          <p:cNvPr id="13" name="Text 11"/>
          <p:cNvSpPr/>
          <p:nvPr/>
        </p:nvSpPr>
        <p:spPr>
          <a:xfrm>
            <a:off x="502920" y="5189220"/>
            <a:ext cx="5440680" cy="1463040"/>
          </a:xfrm>
          <a:prstGeom prst="rect">
            <a:avLst/>
          </a:prstGeom>
          <a:noFill/>
          <a:ln/>
        </p:spPr>
        <p:txBody>
          <a:bodyPr wrap="square" lIns="0" tIns="0" rIns="0" bIns="0" rtlCol="0" anchor="t"/>
          <a:lstStyle/>
          <a:p>
            <a:pPr marL="0" indent="0">
              <a:lnSpc>
                <a:spcPct val="114000"/>
              </a:lnSpc>
              <a:buNone/>
            </a:pPr>
            <a:r>
              <a:rPr lang="en-US" sz="1100" dirty="0">
                <a:solidFill>
                  <a:srgbClr val="44535A"/>
                </a:solidFill>
                <a:latin typeface="Calibri" pitchFamily="34" charset="0"/>
                <a:ea typeface="Calibri" pitchFamily="34" charset="-122"/>
                <a:cs typeface="Calibri" pitchFamily="34" charset="-120"/>
              </a:rPr>
              <a:t>Combining public procurement records with controlled synthetic documents lets the RAG and compliance modules be built and evaluated end-to-end without exposing real organisational data.</a:t>
            </a:r>
            <a:endParaRPr lang="en-US" sz="1100" dirty="0"/>
          </a:p>
        </p:txBody>
      </p:sp>
      <p:sp>
        <p:nvSpPr>
          <p:cNvPr id="14" name="Text 12"/>
          <p:cNvSpPr/>
          <p:nvPr/>
        </p:nvSpPr>
        <p:spPr>
          <a:xfrm>
            <a:off x="6263640" y="1170432"/>
            <a:ext cx="5440680" cy="310896"/>
          </a:xfrm>
          <a:prstGeom prst="rect">
            <a:avLst/>
          </a:prstGeom>
          <a:noFill/>
          <a:ln/>
        </p:spPr>
        <p:txBody>
          <a:bodyPr wrap="square" lIns="0" tIns="0" rIns="0" bIns="0" rtlCol="0" anchor="ctr"/>
          <a:lstStyle/>
          <a:p>
            <a:pPr marL="0" indent="0">
              <a:buNone/>
            </a:pPr>
            <a:r>
              <a:rPr lang="en-US" sz="1500" b="1" kern="0" spc="100" dirty="0">
                <a:solidFill>
                  <a:srgbClr val="1F8A70"/>
                </a:solidFill>
                <a:latin typeface="Arial" pitchFamily="34" charset="0"/>
                <a:ea typeface="Arial" pitchFamily="34" charset="-122"/>
                <a:cs typeface="Arial" pitchFamily="34" charset="-120"/>
              </a:rPr>
              <a:t>EXPECTED OUTCOME</a:t>
            </a:r>
            <a:endParaRPr lang="en-US" sz="1500" dirty="0"/>
          </a:p>
        </p:txBody>
      </p:sp>
      <p:sp>
        <p:nvSpPr>
          <p:cNvPr id="15" name="Text 13"/>
          <p:cNvSpPr/>
          <p:nvPr/>
        </p:nvSpPr>
        <p:spPr>
          <a:xfrm>
            <a:off x="6263640" y="1600200"/>
            <a:ext cx="5440680" cy="493776"/>
          </a:xfrm>
          <a:prstGeom prst="rect">
            <a:avLst/>
          </a:prstGeom>
          <a:noFill/>
          <a:ln/>
        </p:spPr>
        <p:txBody>
          <a:bodyPr wrap="square" lIns="0" tIns="0" rIns="0" bIns="0" rtlCol="0" anchor="t"/>
          <a:lstStyle/>
          <a:p>
            <a:pPr marL="0" indent="0">
              <a:lnSpc>
                <a:spcPct val="115000"/>
              </a:lnSpc>
              <a:buNone/>
            </a:pPr>
            <a:r>
              <a:rPr lang="en-US" sz="1300" b="1" dirty="0">
                <a:solidFill>
                  <a:srgbClr val="1F8A70"/>
                </a:solidFill>
                <a:latin typeface="Calibri" pitchFamily="34" charset="0"/>
                <a:ea typeface="Calibri" pitchFamily="34" charset="-122"/>
                <a:cs typeface="Calibri" pitchFamily="34" charset="-120"/>
              </a:rPr>
              <a:t>01  </a:t>
            </a:r>
            <a:r>
              <a:rPr lang="en-US" sz="1200" dirty="0">
                <a:solidFill>
                  <a:srgbClr val="44535A"/>
                </a:solidFill>
                <a:latin typeface="Calibri" pitchFamily="34" charset="0"/>
                <a:ea typeface="Calibri" pitchFamily="34" charset="-122"/>
                <a:cs typeface="Calibri" pitchFamily="34" charset="-120"/>
              </a:rPr>
              <a:t>Evidence-grounded answers to procurement questions, each citing its source document and page.</a:t>
            </a:r>
            <a:endParaRPr lang="en-US" sz="1300" dirty="0"/>
          </a:p>
        </p:txBody>
      </p:sp>
      <p:sp>
        <p:nvSpPr>
          <p:cNvPr id="16" name="Text 14"/>
          <p:cNvSpPr/>
          <p:nvPr/>
        </p:nvSpPr>
        <p:spPr>
          <a:xfrm>
            <a:off x="6263640" y="2295144"/>
            <a:ext cx="5440680" cy="493776"/>
          </a:xfrm>
          <a:prstGeom prst="rect">
            <a:avLst/>
          </a:prstGeom>
          <a:noFill/>
          <a:ln/>
        </p:spPr>
        <p:txBody>
          <a:bodyPr wrap="square" lIns="0" tIns="0" rIns="0" bIns="0" rtlCol="0" anchor="t"/>
          <a:lstStyle/>
          <a:p>
            <a:pPr marL="0" indent="0">
              <a:lnSpc>
                <a:spcPct val="115000"/>
              </a:lnSpc>
              <a:buNone/>
            </a:pPr>
            <a:r>
              <a:rPr lang="en-US" sz="1300" b="1" dirty="0">
                <a:solidFill>
                  <a:srgbClr val="1F8A70"/>
                </a:solidFill>
                <a:latin typeface="Calibri" pitchFamily="34" charset="0"/>
                <a:ea typeface="Calibri" pitchFamily="34" charset="-122"/>
                <a:cs typeface="Calibri" pitchFamily="34" charset="-120"/>
              </a:rPr>
              <a:t>02  </a:t>
            </a:r>
            <a:r>
              <a:rPr lang="en-US" sz="1200" dirty="0">
                <a:solidFill>
                  <a:srgbClr val="44535A"/>
                </a:solidFill>
                <a:latin typeface="Calibri" pitchFamily="34" charset="0"/>
                <a:ea typeface="Calibri" pitchFamily="34" charset="-122"/>
                <a:cs typeface="Calibri" pitchFamily="34" charset="-120"/>
              </a:rPr>
              <a:t>Automatic detection of policy violations such as blocked vendors or missing quotations.</a:t>
            </a:r>
            <a:endParaRPr lang="en-US" sz="1300" dirty="0"/>
          </a:p>
        </p:txBody>
      </p:sp>
      <p:sp>
        <p:nvSpPr>
          <p:cNvPr id="17" name="Text 15"/>
          <p:cNvSpPr/>
          <p:nvPr/>
        </p:nvSpPr>
        <p:spPr>
          <a:xfrm>
            <a:off x="6263640" y="2990088"/>
            <a:ext cx="5440680" cy="493776"/>
          </a:xfrm>
          <a:prstGeom prst="rect">
            <a:avLst/>
          </a:prstGeom>
          <a:noFill/>
          <a:ln/>
        </p:spPr>
        <p:txBody>
          <a:bodyPr wrap="square" lIns="0" tIns="0" rIns="0" bIns="0" rtlCol="0" anchor="t"/>
          <a:lstStyle/>
          <a:p>
            <a:pPr marL="0" indent="0">
              <a:lnSpc>
                <a:spcPct val="115000"/>
              </a:lnSpc>
              <a:buNone/>
            </a:pPr>
            <a:r>
              <a:rPr lang="en-US" sz="1300" b="1" dirty="0">
                <a:solidFill>
                  <a:srgbClr val="1F8A70"/>
                </a:solidFill>
                <a:latin typeface="Calibri" pitchFamily="34" charset="0"/>
                <a:ea typeface="Calibri" pitchFamily="34" charset="-122"/>
                <a:cs typeface="Calibri" pitchFamily="34" charset="-120"/>
              </a:rPr>
              <a:t>03  </a:t>
            </a:r>
            <a:r>
              <a:rPr lang="en-US" sz="1200" dirty="0">
                <a:solidFill>
                  <a:srgbClr val="44535A"/>
                </a:solidFill>
                <a:latin typeface="Calibri" pitchFamily="34" charset="0"/>
                <a:ea typeface="Calibri" pitchFamily="34" charset="-122"/>
                <a:cs typeface="Calibri" pitchFamily="34" charset="-120"/>
              </a:rPr>
              <a:t>Data-driven vendor comparison that balances price, delivery and quality rather than picking the cheapest bid.</a:t>
            </a:r>
            <a:endParaRPr lang="en-US" sz="1300" dirty="0"/>
          </a:p>
        </p:txBody>
      </p:sp>
      <p:sp>
        <p:nvSpPr>
          <p:cNvPr id="18" name="Text 16"/>
          <p:cNvSpPr/>
          <p:nvPr/>
        </p:nvSpPr>
        <p:spPr>
          <a:xfrm>
            <a:off x="6263640" y="3685032"/>
            <a:ext cx="5440680" cy="493776"/>
          </a:xfrm>
          <a:prstGeom prst="rect">
            <a:avLst/>
          </a:prstGeom>
          <a:noFill/>
          <a:ln/>
        </p:spPr>
        <p:txBody>
          <a:bodyPr wrap="square" lIns="0" tIns="0" rIns="0" bIns="0" rtlCol="0" anchor="t"/>
          <a:lstStyle/>
          <a:p>
            <a:pPr marL="0" indent="0">
              <a:lnSpc>
                <a:spcPct val="115000"/>
              </a:lnSpc>
              <a:buNone/>
            </a:pPr>
            <a:r>
              <a:rPr lang="en-US" sz="1300" b="1" dirty="0">
                <a:solidFill>
                  <a:srgbClr val="1F8A70"/>
                </a:solidFill>
                <a:latin typeface="Calibri" pitchFamily="34" charset="0"/>
                <a:ea typeface="Calibri" pitchFamily="34" charset="-122"/>
                <a:cs typeface="Calibri" pitchFamily="34" charset="-120"/>
              </a:rPr>
              <a:t>04  </a:t>
            </a:r>
            <a:r>
              <a:rPr lang="en-US" sz="1200" dirty="0">
                <a:solidFill>
                  <a:srgbClr val="44535A"/>
                </a:solidFill>
                <a:latin typeface="Calibri" pitchFamily="34" charset="0"/>
                <a:ea typeface="Calibri" pitchFamily="34" charset="-122"/>
                <a:cs typeface="Calibri" pitchFamily="34" charset="-120"/>
              </a:rPr>
              <a:t>Auto-generated RFQ drafts from natural-language requirements, cutting manual drafting time.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4"/>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1F8A70"/>
          </a:solidFill>
          <a:ln/>
        </p:spPr>
      </p:sp>
      <p:sp>
        <p:nvSpPr>
          <p:cNvPr id="3" name="Shape 1"/>
          <p:cNvSpPr/>
          <p:nvPr/>
        </p:nvSpPr>
        <p:spPr>
          <a:xfrm>
            <a:off x="0" y="6812280"/>
            <a:ext cx="12191695" cy="45720"/>
          </a:xfrm>
          <a:prstGeom prst="rect">
            <a:avLst/>
          </a:prstGeom>
          <a:solidFill>
            <a:srgbClr val="1F8A70"/>
          </a:solidFill>
          <a:ln/>
        </p:spPr>
      </p:sp>
      <p:sp>
        <p:nvSpPr>
          <p:cNvPr id="4" name="Shape 2"/>
          <p:cNvSpPr/>
          <p:nvPr/>
        </p:nvSpPr>
        <p:spPr>
          <a:xfrm>
            <a:off x="7955280" y="0"/>
            <a:ext cx="4236415" cy="6858000"/>
          </a:xfrm>
          <a:prstGeom prst="rect">
            <a:avLst/>
          </a:prstGeom>
          <a:solidFill>
            <a:srgbClr val="132A3A"/>
          </a:solidFill>
          <a:ln/>
        </p:spPr>
      </p:sp>
      <p:sp>
        <p:nvSpPr>
          <p:cNvPr id="5" name="Shape 3"/>
          <p:cNvSpPr/>
          <p:nvPr/>
        </p:nvSpPr>
        <p:spPr>
          <a:xfrm>
            <a:off x="8723330" y="4412894"/>
            <a:ext cx="1438534" cy="483718"/>
          </a:xfrm>
          <a:prstGeom prst="line">
            <a:avLst/>
          </a:prstGeom>
          <a:noFill/>
          <a:ln w="9525">
            <a:solidFill>
              <a:srgbClr val="6FBFAE">
                <a:alpha val="45000"/>
              </a:srgbClr>
            </a:solidFill>
            <a:prstDash val="solid"/>
          </a:ln>
        </p:spPr>
      </p:sp>
      <p:sp>
        <p:nvSpPr>
          <p:cNvPr id="6" name="Shape 4"/>
          <p:cNvSpPr/>
          <p:nvPr/>
        </p:nvSpPr>
        <p:spPr>
          <a:xfrm>
            <a:off x="9082964" y="4896612"/>
            <a:ext cx="1078901" cy="420624"/>
          </a:xfrm>
          <a:prstGeom prst="line">
            <a:avLst/>
          </a:prstGeom>
          <a:noFill/>
          <a:ln w="9525">
            <a:solidFill>
              <a:srgbClr val="6FBFAE">
                <a:alpha val="45000"/>
              </a:srgbClr>
            </a:solidFill>
            <a:prstDash val="solid"/>
          </a:ln>
        </p:spPr>
      </p:sp>
      <p:sp>
        <p:nvSpPr>
          <p:cNvPr id="7" name="Shape 5"/>
          <p:cNvSpPr/>
          <p:nvPr/>
        </p:nvSpPr>
        <p:spPr>
          <a:xfrm>
            <a:off x="10161864" y="4896612"/>
            <a:ext cx="719267" cy="567842"/>
          </a:xfrm>
          <a:prstGeom prst="line">
            <a:avLst/>
          </a:prstGeom>
          <a:noFill/>
          <a:ln w="9525">
            <a:solidFill>
              <a:srgbClr val="6FBFAE">
                <a:alpha val="45000"/>
              </a:srgbClr>
            </a:solidFill>
            <a:prstDash val="solid"/>
          </a:ln>
        </p:spPr>
      </p:sp>
      <p:sp>
        <p:nvSpPr>
          <p:cNvPr id="8" name="Shape 6"/>
          <p:cNvSpPr/>
          <p:nvPr/>
        </p:nvSpPr>
        <p:spPr>
          <a:xfrm>
            <a:off x="9082964" y="5317236"/>
            <a:ext cx="719267" cy="567842"/>
          </a:xfrm>
          <a:prstGeom prst="line">
            <a:avLst/>
          </a:prstGeom>
          <a:noFill/>
          <a:ln w="9525">
            <a:solidFill>
              <a:srgbClr val="6FBFAE">
                <a:alpha val="45000"/>
              </a:srgbClr>
            </a:solidFill>
            <a:prstDash val="solid"/>
          </a:ln>
        </p:spPr>
      </p:sp>
      <p:sp>
        <p:nvSpPr>
          <p:cNvPr id="9" name="Shape 7"/>
          <p:cNvSpPr/>
          <p:nvPr/>
        </p:nvSpPr>
        <p:spPr>
          <a:xfrm flipV="1">
            <a:off x="10881131" y="4539082"/>
            <a:ext cx="359634" cy="925373"/>
          </a:xfrm>
          <a:prstGeom prst="line">
            <a:avLst/>
          </a:prstGeom>
          <a:noFill/>
          <a:ln w="9525">
            <a:solidFill>
              <a:srgbClr val="6FBFAE">
                <a:alpha val="45000"/>
              </a:srgbClr>
            </a:solidFill>
            <a:prstDash val="solid"/>
          </a:ln>
        </p:spPr>
      </p:sp>
      <p:sp>
        <p:nvSpPr>
          <p:cNvPr id="10" name="Shape 8"/>
          <p:cNvSpPr/>
          <p:nvPr/>
        </p:nvSpPr>
        <p:spPr>
          <a:xfrm>
            <a:off x="9802231" y="5464454"/>
            <a:ext cx="1078901" cy="420624"/>
          </a:xfrm>
          <a:prstGeom prst="line">
            <a:avLst/>
          </a:prstGeom>
          <a:noFill/>
          <a:ln w="9525">
            <a:solidFill>
              <a:srgbClr val="6FBFAE">
                <a:alpha val="45000"/>
              </a:srgbClr>
            </a:solidFill>
            <a:prstDash val="solid"/>
          </a:ln>
        </p:spPr>
      </p:sp>
      <p:sp>
        <p:nvSpPr>
          <p:cNvPr id="11" name="Shape 9"/>
          <p:cNvSpPr/>
          <p:nvPr/>
        </p:nvSpPr>
        <p:spPr>
          <a:xfrm>
            <a:off x="8543514" y="5885078"/>
            <a:ext cx="1258717" cy="63094"/>
          </a:xfrm>
          <a:prstGeom prst="line">
            <a:avLst/>
          </a:prstGeom>
          <a:noFill/>
          <a:ln w="9525">
            <a:solidFill>
              <a:srgbClr val="6FBFAE">
                <a:alpha val="45000"/>
              </a:srgbClr>
            </a:solidFill>
            <a:prstDash val="solid"/>
          </a:ln>
        </p:spPr>
      </p:sp>
      <p:sp>
        <p:nvSpPr>
          <p:cNvPr id="12" name="Shape 10"/>
          <p:cNvSpPr/>
          <p:nvPr/>
        </p:nvSpPr>
        <p:spPr>
          <a:xfrm>
            <a:off x="9802231" y="5885078"/>
            <a:ext cx="719267" cy="273406"/>
          </a:xfrm>
          <a:prstGeom prst="line">
            <a:avLst/>
          </a:prstGeom>
          <a:noFill/>
          <a:ln w="9525">
            <a:solidFill>
              <a:srgbClr val="6FBFAE">
                <a:alpha val="45000"/>
              </a:srgbClr>
            </a:solidFill>
            <a:prstDash val="solid"/>
          </a:ln>
        </p:spPr>
      </p:sp>
      <p:sp>
        <p:nvSpPr>
          <p:cNvPr id="13" name="Shape 11"/>
          <p:cNvSpPr/>
          <p:nvPr/>
        </p:nvSpPr>
        <p:spPr>
          <a:xfrm>
            <a:off x="8682182" y="4371746"/>
            <a:ext cx="82296" cy="82296"/>
          </a:xfrm>
          <a:prstGeom prst="ellipse">
            <a:avLst/>
          </a:prstGeom>
          <a:solidFill>
            <a:srgbClr val="6FBFAE">
              <a:alpha val="90000"/>
            </a:srgbClr>
          </a:solidFill>
          <a:ln/>
        </p:spPr>
      </p:sp>
      <p:sp>
        <p:nvSpPr>
          <p:cNvPr id="14" name="Shape 12"/>
          <p:cNvSpPr/>
          <p:nvPr/>
        </p:nvSpPr>
        <p:spPr>
          <a:xfrm>
            <a:off x="10136718" y="4871466"/>
            <a:ext cx="50292" cy="50292"/>
          </a:xfrm>
          <a:prstGeom prst="ellipse">
            <a:avLst/>
          </a:prstGeom>
          <a:solidFill>
            <a:srgbClr val="6FBFAE">
              <a:alpha val="60000"/>
            </a:srgbClr>
          </a:solidFill>
          <a:ln/>
        </p:spPr>
      </p:sp>
      <p:sp>
        <p:nvSpPr>
          <p:cNvPr id="15" name="Shape 13"/>
          <p:cNvSpPr/>
          <p:nvPr/>
        </p:nvSpPr>
        <p:spPr>
          <a:xfrm>
            <a:off x="9057818" y="5292090"/>
            <a:ext cx="50292" cy="50292"/>
          </a:xfrm>
          <a:prstGeom prst="ellipse">
            <a:avLst/>
          </a:prstGeom>
          <a:solidFill>
            <a:srgbClr val="6FBFAE">
              <a:alpha val="90000"/>
            </a:srgbClr>
          </a:solidFill>
          <a:ln/>
        </p:spPr>
      </p:sp>
      <p:sp>
        <p:nvSpPr>
          <p:cNvPr id="16" name="Shape 14"/>
          <p:cNvSpPr/>
          <p:nvPr/>
        </p:nvSpPr>
        <p:spPr>
          <a:xfrm>
            <a:off x="10839983" y="5423306"/>
            <a:ext cx="82296" cy="82296"/>
          </a:xfrm>
          <a:prstGeom prst="ellipse">
            <a:avLst/>
          </a:prstGeom>
          <a:solidFill>
            <a:srgbClr val="6FBFAE">
              <a:alpha val="60000"/>
            </a:srgbClr>
          </a:solidFill>
          <a:ln/>
        </p:spPr>
      </p:sp>
      <p:sp>
        <p:nvSpPr>
          <p:cNvPr id="17" name="Shape 15"/>
          <p:cNvSpPr/>
          <p:nvPr/>
        </p:nvSpPr>
        <p:spPr>
          <a:xfrm>
            <a:off x="9777085" y="5859932"/>
            <a:ext cx="50292" cy="50292"/>
          </a:xfrm>
          <a:prstGeom prst="ellipse">
            <a:avLst/>
          </a:prstGeom>
          <a:solidFill>
            <a:srgbClr val="6FBFAE">
              <a:alpha val="90000"/>
            </a:srgbClr>
          </a:solidFill>
          <a:ln/>
        </p:spPr>
      </p:sp>
      <p:sp>
        <p:nvSpPr>
          <p:cNvPr id="18" name="Shape 16"/>
          <p:cNvSpPr/>
          <p:nvPr/>
        </p:nvSpPr>
        <p:spPr>
          <a:xfrm>
            <a:off x="11215619" y="4513936"/>
            <a:ext cx="50292" cy="50292"/>
          </a:xfrm>
          <a:prstGeom prst="ellipse">
            <a:avLst/>
          </a:prstGeom>
          <a:solidFill>
            <a:srgbClr val="6FBFAE">
              <a:alpha val="60000"/>
            </a:srgbClr>
          </a:solidFill>
          <a:ln/>
        </p:spPr>
      </p:sp>
      <p:sp>
        <p:nvSpPr>
          <p:cNvPr id="19" name="Shape 17"/>
          <p:cNvSpPr/>
          <p:nvPr/>
        </p:nvSpPr>
        <p:spPr>
          <a:xfrm>
            <a:off x="8502366" y="5907024"/>
            <a:ext cx="82296" cy="82296"/>
          </a:xfrm>
          <a:prstGeom prst="ellipse">
            <a:avLst/>
          </a:prstGeom>
          <a:solidFill>
            <a:srgbClr val="6FBFAE">
              <a:alpha val="90000"/>
            </a:srgbClr>
          </a:solidFill>
          <a:ln/>
        </p:spPr>
      </p:sp>
      <p:sp>
        <p:nvSpPr>
          <p:cNvPr id="20" name="Shape 18"/>
          <p:cNvSpPr/>
          <p:nvPr/>
        </p:nvSpPr>
        <p:spPr>
          <a:xfrm>
            <a:off x="10496352" y="6133338"/>
            <a:ext cx="50292" cy="50292"/>
          </a:xfrm>
          <a:prstGeom prst="ellipse">
            <a:avLst/>
          </a:prstGeom>
          <a:solidFill>
            <a:srgbClr val="6FBFAE">
              <a:alpha val="60000"/>
            </a:srgbClr>
          </a:solidFill>
          <a:ln/>
        </p:spPr>
      </p:sp>
      <p:sp>
        <p:nvSpPr>
          <p:cNvPr id="21" name="Text 19"/>
          <p:cNvSpPr/>
          <p:nvPr/>
        </p:nvSpPr>
        <p:spPr>
          <a:xfrm>
            <a:off x="502920" y="292608"/>
            <a:ext cx="6995160" cy="768096"/>
          </a:xfrm>
          <a:prstGeom prst="rect">
            <a:avLst/>
          </a:prstGeom>
          <a:noFill/>
          <a:ln/>
        </p:spPr>
        <p:txBody>
          <a:bodyPr wrap="square" lIns="0" tIns="0" rIns="0" bIns="0" rtlCol="0" anchor="ctr"/>
          <a:lstStyle/>
          <a:p>
            <a:pPr marL="0" indent="0">
              <a:buNone/>
            </a:pPr>
            <a:r>
              <a:rPr lang="en-US" b="1" kern="0" spc="120" dirty="0">
                <a:solidFill>
                  <a:srgbClr val="1F8A70"/>
                </a:solidFill>
                <a:latin typeface="Arial" pitchFamily="34" charset="0"/>
                <a:ea typeface="Arial" pitchFamily="34" charset="-122"/>
                <a:cs typeface="Arial" pitchFamily="34" charset="-120"/>
              </a:rPr>
              <a:t>MEDTRACE AI — MEDICAL DEVICE COMPLAINT INVESTIGATION PLATFORM</a:t>
            </a:r>
            <a:endParaRPr lang="en-US" dirty="0"/>
          </a:p>
        </p:txBody>
      </p:sp>
      <p:sp>
        <p:nvSpPr>
          <p:cNvPr id="23" name="Text 21"/>
          <p:cNvSpPr/>
          <p:nvPr/>
        </p:nvSpPr>
        <p:spPr>
          <a:xfrm>
            <a:off x="502920" y="1170432"/>
            <a:ext cx="6995160" cy="256032"/>
          </a:xfrm>
          <a:prstGeom prst="rect">
            <a:avLst/>
          </a:prstGeom>
          <a:noFill/>
          <a:ln/>
        </p:spPr>
        <p:txBody>
          <a:bodyPr wrap="square" lIns="0" tIns="0" rIns="0" bIns="0" rtlCol="0" anchor="ctr"/>
          <a:lstStyle/>
          <a:p>
            <a:pPr marL="0" indent="0">
              <a:buNone/>
            </a:pPr>
            <a:r>
              <a:rPr lang="en-US" sz="1200" b="1" kern="0" spc="100" dirty="0">
                <a:solidFill>
                  <a:srgbClr val="7C8C90"/>
                </a:solidFill>
                <a:latin typeface="Arial" pitchFamily="34" charset="0"/>
                <a:ea typeface="Arial" pitchFamily="34" charset="-122"/>
                <a:cs typeface="Arial" pitchFamily="34" charset="-120"/>
              </a:rPr>
              <a:t>PROBLEM STATEMENT</a:t>
            </a:r>
            <a:endParaRPr lang="en-US" sz="1200" dirty="0"/>
          </a:p>
        </p:txBody>
      </p:sp>
      <p:sp>
        <p:nvSpPr>
          <p:cNvPr id="24" name="Text 22"/>
          <p:cNvSpPr/>
          <p:nvPr/>
        </p:nvSpPr>
        <p:spPr>
          <a:xfrm>
            <a:off x="502920" y="1426464"/>
            <a:ext cx="6995160" cy="1371600"/>
          </a:xfrm>
          <a:prstGeom prst="rect">
            <a:avLst/>
          </a:prstGeom>
          <a:noFill/>
          <a:ln/>
        </p:spPr>
        <p:txBody>
          <a:bodyPr wrap="square" lIns="0" tIns="0" rIns="0" bIns="0" rtlCol="0" anchor="t"/>
          <a:lstStyle/>
          <a:p>
            <a:pPr marL="0" indent="0" algn="l">
              <a:lnSpc>
                <a:spcPct val="112000"/>
              </a:lnSpc>
              <a:spcAft>
                <a:spcPts val="800"/>
              </a:spcAft>
              <a:buNone/>
            </a:pPr>
            <a:r>
              <a:rPr lang="en-US" sz="1200" dirty="0">
                <a:solidFill>
                  <a:srgbClr val="44535A"/>
                </a:solidFill>
                <a:latin typeface="Calibri" pitchFamily="34" charset="0"/>
                <a:ea typeface="Calibri" pitchFamily="34" charset="-122"/>
                <a:cs typeface="Calibri" pitchFamily="34" charset="-120"/>
              </a:rPr>
              <a:t>Traditional complaint-management systems only store complaints and let analysts search them. For every new complaint, investigators must manually identify the device, the problem, the patient outcome, whether similar cases exist internally or in FDA MAUDE, whether the issue is recurring, and what regulatory action may apply.</a:t>
            </a:r>
            <a:endParaRPr lang="en-US" sz="1200" dirty="0"/>
          </a:p>
          <a:p>
            <a:pPr marL="0" indent="0" algn="l">
              <a:lnSpc>
                <a:spcPct val="112000"/>
              </a:lnSpc>
              <a:buNone/>
            </a:pPr>
            <a:r>
              <a:rPr lang="en-US" sz="1200" dirty="0">
                <a:solidFill>
                  <a:srgbClr val="44535A"/>
                </a:solidFill>
                <a:latin typeface="Calibri" pitchFamily="34" charset="0"/>
                <a:ea typeface="Calibri" pitchFamily="34" charset="-122"/>
                <a:cs typeface="Calibri" pitchFamily="34" charset="-120"/>
              </a:rPr>
              <a:t>MedTrace AI automates this investigation while recommending — not dictating — regulatory actions, since MAUDE reports can be incomplete or unverified and causality cannot be established from a report alone.</a:t>
            </a:r>
            <a:endParaRPr lang="en-US" sz="1200" dirty="0"/>
          </a:p>
        </p:txBody>
      </p:sp>
      <p:sp>
        <p:nvSpPr>
          <p:cNvPr id="25" name="Text 23"/>
          <p:cNvSpPr/>
          <p:nvPr/>
        </p:nvSpPr>
        <p:spPr>
          <a:xfrm>
            <a:off x="502920" y="2999232"/>
            <a:ext cx="6995160" cy="256032"/>
          </a:xfrm>
          <a:prstGeom prst="rect">
            <a:avLst/>
          </a:prstGeom>
          <a:noFill/>
          <a:ln/>
        </p:spPr>
        <p:txBody>
          <a:bodyPr wrap="square" lIns="0" tIns="0" rIns="0" bIns="0" rtlCol="0" anchor="ctr"/>
          <a:lstStyle/>
          <a:p>
            <a:pPr marL="0" indent="0">
              <a:buNone/>
            </a:pPr>
            <a:r>
              <a:rPr lang="en-US" sz="1200" b="1" kern="0" spc="100" dirty="0">
                <a:solidFill>
                  <a:srgbClr val="7C8C90"/>
                </a:solidFill>
                <a:latin typeface="Arial" pitchFamily="34" charset="0"/>
                <a:ea typeface="Arial" pitchFamily="34" charset="-122"/>
                <a:cs typeface="Arial" pitchFamily="34" charset="-120"/>
              </a:rPr>
              <a:t>OBJECTIVES</a:t>
            </a:r>
            <a:endParaRPr lang="en-US" sz="1200" dirty="0"/>
          </a:p>
        </p:txBody>
      </p:sp>
      <p:sp>
        <p:nvSpPr>
          <p:cNvPr id="26" name="Text 24"/>
          <p:cNvSpPr/>
          <p:nvPr/>
        </p:nvSpPr>
        <p:spPr>
          <a:xfrm>
            <a:off x="502920" y="3328416"/>
            <a:ext cx="2161032" cy="457200"/>
          </a:xfrm>
          <a:prstGeom prst="rect">
            <a:avLst/>
          </a:prstGeom>
          <a:noFill/>
          <a:ln/>
        </p:spPr>
        <p:txBody>
          <a:bodyPr wrap="square" lIns="0" tIns="0" rIns="0" bIns="0" rtlCol="0" anchor="t"/>
          <a:lstStyle/>
          <a:p>
            <a:pPr marL="0" indent="0">
              <a:lnSpc>
                <a:spcPct val="100000"/>
              </a:lnSpc>
              <a:buNone/>
            </a:pPr>
            <a:r>
              <a:rPr lang="en-US" sz="1500" b="1" dirty="0">
                <a:solidFill>
                  <a:srgbClr val="1F8A70"/>
                </a:solidFill>
                <a:latin typeface="Arial" pitchFamily="34" charset="0"/>
                <a:ea typeface="Arial" pitchFamily="34" charset="-122"/>
                <a:cs typeface="Arial" pitchFamily="34" charset="-120"/>
              </a:rPr>
              <a:t>01  </a:t>
            </a:r>
            <a:r>
              <a:rPr lang="en-US" sz="1250" b="1" dirty="0">
                <a:solidFill>
                  <a:srgbClr val="132A3A"/>
                </a:solidFill>
                <a:latin typeface="Arial" pitchFamily="34" charset="0"/>
                <a:ea typeface="Arial" pitchFamily="34" charset="-122"/>
                <a:cs typeface="Arial" pitchFamily="34" charset="-120"/>
              </a:rPr>
              <a:t>Extract complaint intelligence</a:t>
            </a:r>
            <a:endParaRPr lang="en-US" sz="1500" dirty="0"/>
          </a:p>
        </p:txBody>
      </p:sp>
      <p:sp>
        <p:nvSpPr>
          <p:cNvPr id="27" name="Text 25"/>
          <p:cNvSpPr/>
          <p:nvPr/>
        </p:nvSpPr>
        <p:spPr>
          <a:xfrm>
            <a:off x="502920" y="3749040"/>
            <a:ext cx="2161032" cy="1115568"/>
          </a:xfrm>
          <a:prstGeom prst="rect">
            <a:avLst/>
          </a:prstGeom>
          <a:noFill/>
          <a:ln/>
        </p:spPr>
        <p:txBody>
          <a:bodyPr wrap="square" lIns="0" tIns="0" rIns="0" bIns="0" rtlCol="0" anchor="t"/>
          <a:lstStyle/>
          <a:p>
            <a:pPr marL="0" indent="0">
              <a:lnSpc>
                <a:spcPct val="112000"/>
              </a:lnSpc>
              <a:buNone/>
            </a:pPr>
            <a:r>
              <a:rPr lang="en-US" sz="1050" dirty="0">
                <a:solidFill>
                  <a:srgbClr val="44535A"/>
                </a:solidFill>
                <a:latin typeface="Calibri" pitchFamily="34" charset="0"/>
                <a:ea typeface="Calibri" pitchFamily="34" charset="-122"/>
                <a:cs typeface="Calibri" pitchFamily="34" charset="-120"/>
              </a:rPr>
              <a:t>Use NLP to pull device, failure mode, clinical effect and severity from free-text complaint narratives.</a:t>
            </a:r>
            <a:endParaRPr lang="en-US" sz="1050" dirty="0"/>
          </a:p>
        </p:txBody>
      </p:sp>
      <p:sp>
        <p:nvSpPr>
          <p:cNvPr id="28" name="Text 26"/>
          <p:cNvSpPr/>
          <p:nvPr/>
        </p:nvSpPr>
        <p:spPr>
          <a:xfrm>
            <a:off x="2919984" y="3328416"/>
            <a:ext cx="2161032" cy="457200"/>
          </a:xfrm>
          <a:prstGeom prst="rect">
            <a:avLst/>
          </a:prstGeom>
          <a:noFill/>
          <a:ln/>
        </p:spPr>
        <p:txBody>
          <a:bodyPr wrap="square" lIns="0" tIns="0" rIns="0" bIns="0" rtlCol="0" anchor="t"/>
          <a:lstStyle/>
          <a:p>
            <a:pPr marL="0" indent="0">
              <a:lnSpc>
                <a:spcPct val="100000"/>
              </a:lnSpc>
              <a:buNone/>
            </a:pPr>
            <a:r>
              <a:rPr lang="en-US" sz="1500" b="1" dirty="0">
                <a:solidFill>
                  <a:srgbClr val="1F8A70"/>
                </a:solidFill>
                <a:latin typeface="Arial" pitchFamily="34" charset="0"/>
                <a:ea typeface="Arial" pitchFamily="34" charset="-122"/>
                <a:cs typeface="Arial" pitchFamily="34" charset="-120"/>
              </a:rPr>
              <a:t>02  </a:t>
            </a:r>
            <a:r>
              <a:rPr lang="en-US" sz="1250" b="1" dirty="0">
                <a:solidFill>
                  <a:srgbClr val="132A3A"/>
                </a:solidFill>
                <a:latin typeface="Arial" pitchFamily="34" charset="0"/>
                <a:ea typeface="Arial" pitchFamily="34" charset="-122"/>
                <a:cs typeface="Arial" pitchFamily="34" charset="-120"/>
              </a:rPr>
              <a:t>Predict analytical risk</a:t>
            </a:r>
            <a:endParaRPr lang="en-US" sz="1500" dirty="0"/>
          </a:p>
        </p:txBody>
      </p:sp>
      <p:sp>
        <p:nvSpPr>
          <p:cNvPr id="29" name="Text 27"/>
          <p:cNvSpPr/>
          <p:nvPr/>
        </p:nvSpPr>
        <p:spPr>
          <a:xfrm>
            <a:off x="2919984" y="3749040"/>
            <a:ext cx="2161032" cy="1115568"/>
          </a:xfrm>
          <a:prstGeom prst="rect">
            <a:avLst/>
          </a:prstGeom>
          <a:noFill/>
          <a:ln/>
        </p:spPr>
        <p:txBody>
          <a:bodyPr wrap="square" lIns="0" tIns="0" rIns="0" bIns="0" rtlCol="0" anchor="t"/>
          <a:lstStyle/>
          <a:p>
            <a:pPr marL="0" indent="0">
              <a:lnSpc>
                <a:spcPct val="112000"/>
              </a:lnSpc>
              <a:buNone/>
            </a:pPr>
            <a:r>
              <a:rPr lang="en-US" sz="1050" dirty="0">
                <a:solidFill>
                  <a:srgbClr val="44535A"/>
                </a:solidFill>
                <a:latin typeface="Calibri" pitchFamily="34" charset="0"/>
                <a:ea typeface="Calibri" pitchFamily="34" charset="-122"/>
                <a:cs typeface="Calibri" pitchFamily="34" charset="-120"/>
              </a:rPr>
              <a:t>Score each complaint (Low–Critical) using ML — Logistic Regression, Random Forest, XGBoost — compared for accuracy and recall.</a:t>
            </a:r>
            <a:endParaRPr lang="en-US" sz="1050" dirty="0"/>
          </a:p>
        </p:txBody>
      </p:sp>
      <p:sp>
        <p:nvSpPr>
          <p:cNvPr id="30" name="Text 28"/>
          <p:cNvSpPr/>
          <p:nvPr/>
        </p:nvSpPr>
        <p:spPr>
          <a:xfrm>
            <a:off x="5337048" y="3328416"/>
            <a:ext cx="2161032" cy="457200"/>
          </a:xfrm>
          <a:prstGeom prst="rect">
            <a:avLst/>
          </a:prstGeom>
          <a:noFill/>
          <a:ln/>
        </p:spPr>
        <p:txBody>
          <a:bodyPr wrap="square" lIns="0" tIns="0" rIns="0" bIns="0" rtlCol="0" anchor="t"/>
          <a:lstStyle/>
          <a:p>
            <a:pPr marL="0" indent="0">
              <a:lnSpc>
                <a:spcPct val="100000"/>
              </a:lnSpc>
              <a:buNone/>
            </a:pPr>
            <a:r>
              <a:rPr lang="en-US" sz="1500" b="1" dirty="0">
                <a:solidFill>
                  <a:srgbClr val="1F8A70"/>
                </a:solidFill>
                <a:latin typeface="Arial" pitchFamily="34" charset="0"/>
                <a:ea typeface="Arial" pitchFamily="34" charset="-122"/>
                <a:cs typeface="Arial" pitchFamily="34" charset="-120"/>
              </a:rPr>
              <a:t>03  </a:t>
            </a:r>
            <a:r>
              <a:rPr lang="en-US" sz="1250" b="1" dirty="0">
                <a:solidFill>
                  <a:srgbClr val="132A3A"/>
                </a:solidFill>
                <a:latin typeface="Arial" pitchFamily="34" charset="0"/>
                <a:ea typeface="Arial" pitchFamily="34" charset="-122"/>
                <a:cs typeface="Arial" pitchFamily="34" charset="-120"/>
              </a:rPr>
              <a:t>Retrieve similar cases</a:t>
            </a:r>
            <a:endParaRPr lang="en-US" sz="1500" dirty="0"/>
          </a:p>
        </p:txBody>
      </p:sp>
      <p:sp>
        <p:nvSpPr>
          <p:cNvPr id="31" name="Text 29"/>
          <p:cNvSpPr/>
          <p:nvPr/>
        </p:nvSpPr>
        <p:spPr>
          <a:xfrm>
            <a:off x="5337048" y="3749040"/>
            <a:ext cx="2161032" cy="1115568"/>
          </a:xfrm>
          <a:prstGeom prst="rect">
            <a:avLst/>
          </a:prstGeom>
          <a:noFill/>
          <a:ln/>
        </p:spPr>
        <p:txBody>
          <a:bodyPr wrap="square" lIns="0" tIns="0" rIns="0" bIns="0" rtlCol="0" anchor="t"/>
          <a:lstStyle/>
          <a:p>
            <a:pPr marL="0" indent="0">
              <a:lnSpc>
                <a:spcPct val="112000"/>
              </a:lnSpc>
              <a:buNone/>
            </a:pPr>
            <a:r>
              <a:rPr lang="en-US" sz="1050" dirty="0">
                <a:solidFill>
                  <a:srgbClr val="44535A"/>
                </a:solidFill>
                <a:latin typeface="Calibri" pitchFamily="34" charset="0"/>
                <a:ea typeface="Calibri" pitchFamily="34" charset="-122"/>
                <a:cs typeface="Calibri" pitchFamily="34" charset="-120"/>
              </a:rPr>
              <a:t>Use sentence-embedding similarity search to surface matching internal complaints and FDA MAUDE reports.</a:t>
            </a:r>
            <a:endParaRPr lang="en-US" sz="1050" dirty="0"/>
          </a:p>
        </p:txBody>
      </p:sp>
      <p:sp>
        <p:nvSpPr>
          <p:cNvPr id="32" name="Text 30"/>
          <p:cNvSpPr/>
          <p:nvPr/>
        </p:nvSpPr>
        <p:spPr>
          <a:xfrm>
            <a:off x="502920" y="4974336"/>
            <a:ext cx="2161032" cy="457200"/>
          </a:xfrm>
          <a:prstGeom prst="rect">
            <a:avLst/>
          </a:prstGeom>
          <a:noFill/>
          <a:ln/>
        </p:spPr>
        <p:txBody>
          <a:bodyPr wrap="square" lIns="0" tIns="0" rIns="0" bIns="0" rtlCol="0" anchor="t"/>
          <a:lstStyle/>
          <a:p>
            <a:pPr marL="0" indent="0">
              <a:lnSpc>
                <a:spcPct val="100000"/>
              </a:lnSpc>
              <a:buNone/>
            </a:pPr>
            <a:r>
              <a:rPr lang="en-US" sz="1500" b="1" dirty="0">
                <a:solidFill>
                  <a:srgbClr val="1F8A70"/>
                </a:solidFill>
                <a:latin typeface="Arial" pitchFamily="34" charset="0"/>
                <a:ea typeface="Arial" pitchFamily="34" charset="-122"/>
                <a:cs typeface="Arial" pitchFamily="34" charset="-120"/>
              </a:rPr>
              <a:t>04  </a:t>
            </a:r>
            <a:r>
              <a:rPr lang="en-US" sz="1250" b="1" dirty="0">
                <a:solidFill>
                  <a:srgbClr val="132A3A"/>
                </a:solidFill>
                <a:latin typeface="Arial" pitchFamily="34" charset="0"/>
                <a:ea typeface="Arial" pitchFamily="34" charset="-122"/>
                <a:cs typeface="Arial" pitchFamily="34" charset="-120"/>
              </a:rPr>
              <a:t>Detect recurring problems</a:t>
            </a:r>
            <a:endParaRPr lang="en-US" sz="1500" dirty="0"/>
          </a:p>
        </p:txBody>
      </p:sp>
      <p:sp>
        <p:nvSpPr>
          <p:cNvPr id="33" name="Text 31"/>
          <p:cNvSpPr/>
          <p:nvPr/>
        </p:nvSpPr>
        <p:spPr>
          <a:xfrm>
            <a:off x="502920" y="5394960"/>
            <a:ext cx="2161032" cy="1115568"/>
          </a:xfrm>
          <a:prstGeom prst="rect">
            <a:avLst/>
          </a:prstGeom>
          <a:noFill/>
          <a:ln/>
        </p:spPr>
        <p:txBody>
          <a:bodyPr wrap="square" lIns="0" tIns="0" rIns="0" bIns="0" rtlCol="0" anchor="t"/>
          <a:lstStyle/>
          <a:p>
            <a:pPr marL="0" indent="0">
              <a:lnSpc>
                <a:spcPct val="112000"/>
              </a:lnSpc>
              <a:buNone/>
            </a:pPr>
            <a:r>
              <a:rPr lang="en-US" sz="1050" dirty="0">
                <a:solidFill>
                  <a:srgbClr val="44535A"/>
                </a:solidFill>
                <a:latin typeface="Calibri" pitchFamily="34" charset="0"/>
                <a:ea typeface="Calibri" pitchFamily="34" charset="-122"/>
                <a:cs typeface="Calibri" pitchFamily="34" charset="-120"/>
              </a:rPr>
              <a:t>Track complaint-frequency trends per device/model to flag emerging failure patterns early.</a:t>
            </a:r>
            <a:endParaRPr lang="en-US" sz="1050" dirty="0"/>
          </a:p>
        </p:txBody>
      </p:sp>
      <p:sp>
        <p:nvSpPr>
          <p:cNvPr id="34" name="Text 32"/>
          <p:cNvSpPr/>
          <p:nvPr/>
        </p:nvSpPr>
        <p:spPr>
          <a:xfrm>
            <a:off x="2919984" y="4974336"/>
            <a:ext cx="2161032" cy="457200"/>
          </a:xfrm>
          <a:prstGeom prst="rect">
            <a:avLst/>
          </a:prstGeom>
          <a:noFill/>
          <a:ln/>
        </p:spPr>
        <p:txBody>
          <a:bodyPr wrap="square" lIns="0" tIns="0" rIns="0" bIns="0" rtlCol="0" anchor="t"/>
          <a:lstStyle/>
          <a:p>
            <a:pPr marL="0" indent="0">
              <a:lnSpc>
                <a:spcPct val="100000"/>
              </a:lnSpc>
              <a:buNone/>
            </a:pPr>
            <a:r>
              <a:rPr lang="en-US" sz="1500" b="1" dirty="0">
                <a:solidFill>
                  <a:srgbClr val="1F8A70"/>
                </a:solidFill>
                <a:latin typeface="Arial" pitchFamily="34" charset="0"/>
                <a:ea typeface="Arial" pitchFamily="34" charset="-122"/>
                <a:cs typeface="Arial" pitchFamily="34" charset="-120"/>
              </a:rPr>
              <a:t>05  </a:t>
            </a:r>
            <a:r>
              <a:rPr lang="en-US" sz="1250" b="1" dirty="0">
                <a:solidFill>
                  <a:srgbClr val="132A3A"/>
                </a:solidFill>
                <a:latin typeface="Arial" pitchFamily="34" charset="0"/>
                <a:ea typeface="Arial" pitchFamily="34" charset="-122"/>
                <a:cs typeface="Arial" pitchFamily="34" charset="-120"/>
              </a:rPr>
              <a:t>Ground answers in regulation</a:t>
            </a:r>
            <a:endParaRPr lang="en-US" sz="1500" dirty="0"/>
          </a:p>
        </p:txBody>
      </p:sp>
      <p:sp>
        <p:nvSpPr>
          <p:cNvPr id="35" name="Text 33"/>
          <p:cNvSpPr/>
          <p:nvPr/>
        </p:nvSpPr>
        <p:spPr>
          <a:xfrm>
            <a:off x="2919984" y="5394960"/>
            <a:ext cx="2161032" cy="1115568"/>
          </a:xfrm>
          <a:prstGeom prst="rect">
            <a:avLst/>
          </a:prstGeom>
          <a:noFill/>
          <a:ln/>
        </p:spPr>
        <p:txBody>
          <a:bodyPr wrap="square" lIns="0" tIns="0" rIns="0" bIns="0" rtlCol="0" anchor="t"/>
          <a:lstStyle/>
          <a:p>
            <a:pPr marL="0" indent="0">
              <a:lnSpc>
                <a:spcPct val="112000"/>
              </a:lnSpc>
              <a:buNone/>
            </a:pPr>
            <a:r>
              <a:rPr lang="en-US" sz="1050" dirty="0">
                <a:solidFill>
                  <a:srgbClr val="44535A"/>
                </a:solidFill>
                <a:latin typeface="Calibri" pitchFamily="34" charset="0"/>
                <a:ea typeface="Calibri" pitchFamily="34" charset="-122"/>
                <a:cs typeface="Calibri" pitchFamily="34" charset="-120"/>
              </a:rPr>
              <a:t>Retrieve 21 CFR Part 803 and FDA MDR guidance via RAG to answer reportability questions with citations.</a:t>
            </a:r>
            <a:endParaRPr lang="en-US" sz="1050" dirty="0"/>
          </a:p>
        </p:txBody>
      </p:sp>
      <p:sp>
        <p:nvSpPr>
          <p:cNvPr id="36" name="Text 34"/>
          <p:cNvSpPr/>
          <p:nvPr/>
        </p:nvSpPr>
        <p:spPr>
          <a:xfrm>
            <a:off x="5337048" y="4974336"/>
            <a:ext cx="2161032" cy="457200"/>
          </a:xfrm>
          <a:prstGeom prst="rect">
            <a:avLst/>
          </a:prstGeom>
          <a:noFill/>
          <a:ln/>
        </p:spPr>
        <p:txBody>
          <a:bodyPr wrap="square" lIns="0" tIns="0" rIns="0" bIns="0" rtlCol="0" anchor="t"/>
          <a:lstStyle/>
          <a:p>
            <a:pPr marL="0" indent="0">
              <a:lnSpc>
                <a:spcPct val="100000"/>
              </a:lnSpc>
              <a:buNone/>
            </a:pPr>
            <a:r>
              <a:rPr lang="en-US" sz="1500" b="1" dirty="0">
                <a:solidFill>
                  <a:srgbClr val="1F8A70"/>
                </a:solidFill>
                <a:latin typeface="Arial" pitchFamily="34" charset="0"/>
                <a:ea typeface="Arial" pitchFamily="34" charset="-122"/>
                <a:cs typeface="Arial" pitchFamily="34" charset="-120"/>
              </a:rPr>
              <a:t>06  </a:t>
            </a:r>
            <a:r>
              <a:rPr lang="en-US" sz="1250" b="1" dirty="0">
                <a:solidFill>
                  <a:srgbClr val="132A3A"/>
                </a:solidFill>
                <a:latin typeface="Arial" pitchFamily="34" charset="0"/>
                <a:ea typeface="Arial" pitchFamily="34" charset="-122"/>
                <a:cs typeface="Arial" pitchFamily="34" charset="-120"/>
              </a:rPr>
              <a:t>Plan investigations with agentic AI</a:t>
            </a:r>
            <a:endParaRPr lang="en-US" sz="1500" dirty="0"/>
          </a:p>
        </p:txBody>
      </p:sp>
      <p:sp>
        <p:nvSpPr>
          <p:cNvPr id="37" name="Text 35"/>
          <p:cNvSpPr/>
          <p:nvPr/>
        </p:nvSpPr>
        <p:spPr>
          <a:xfrm>
            <a:off x="5337048" y="5394960"/>
            <a:ext cx="2161032" cy="1115568"/>
          </a:xfrm>
          <a:prstGeom prst="rect">
            <a:avLst/>
          </a:prstGeom>
          <a:noFill/>
          <a:ln/>
        </p:spPr>
        <p:txBody>
          <a:bodyPr wrap="square" lIns="0" tIns="0" rIns="0" bIns="0" rtlCol="0" anchor="t"/>
          <a:lstStyle/>
          <a:p>
            <a:pPr marL="0" indent="0">
              <a:lnSpc>
                <a:spcPct val="112000"/>
              </a:lnSpc>
              <a:buNone/>
            </a:pPr>
            <a:r>
              <a:rPr lang="en-US" sz="1050" dirty="0">
                <a:solidFill>
                  <a:srgbClr val="44535A"/>
                </a:solidFill>
                <a:latin typeface="Calibri" pitchFamily="34" charset="0"/>
                <a:ea typeface="Calibri" pitchFamily="34" charset="-122"/>
                <a:cs typeface="Calibri" pitchFamily="34" charset="-120"/>
              </a:rPr>
              <a:t>Chain device, similarity, MAUDE, risk and regulatory agents into one evidence-backed investigation report.</a:t>
            </a:r>
            <a:endParaRPr lang="en-US" sz="1050" dirty="0"/>
          </a:p>
        </p:txBody>
      </p:sp>
      <p:sp>
        <p:nvSpPr>
          <p:cNvPr id="38" name="Text 36"/>
          <p:cNvSpPr/>
          <p:nvPr/>
        </p:nvSpPr>
        <p:spPr>
          <a:xfrm>
            <a:off x="8275320" y="457200"/>
            <a:ext cx="3596335" cy="36576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TECHNICAL STACK</a:t>
            </a:r>
            <a:endParaRPr lang="en-US" sz="1900" dirty="0"/>
          </a:p>
        </p:txBody>
      </p:sp>
      <p:sp>
        <p:nvSpPr>
          <p:cNvPr id="39" name="Shape 37"/>
          <p:cNvSpPr/>
          <p:nvPr/>
        </p:nvSpPr>
        <p:spPr>
          <a:xfrm>
            <a:off x="8275320" y="896112"/>
            <a:ext cx="502920" cy="27432"/>
          </a:xfrm>
          <a:prstGeom prst="rect">
            <a:avLst/>
          </a:prstGeom>
          <a:solidFill>
            <a:srgbClr val="1F8A70"/>
          </a:solidFill>
          <a:ln/>
        </p:spPr>
      </p:sp>
      <p:sp>
        <p:nvSpPr>
          <p:cNvPr id="40" name="Text 38"/>
          <p:cNvSpPr/>
          <p:nvPr/>
        </p:nvSpPr>
        <p:spPr>
          <a:xfrm>
            <a:off x="8275320" y="1170432"/>
            <a:ext cx="3596335" cy="5120640"/>
          </a:xfrm>
          <a:prstGeom prst="rect">
            <a:avLst/>
          </a:prstGeom>
          <a:noFill/>
          <a:ln/>
        </p:spPr>
        <p:txBody>
          <a:bodyPr wrap="square" lIns="0" tIns="0" rIns="0" bIns="0" rtlCol="0" anchor="t"/>
          <a:lstStyle/>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Programming: </a:t>
            </a:r>
            <a:r>
              <a:rPr lang="en-US" sz="1400" dirty="0">
                <a:solidFill>
                  <a:srgbClr val="C9D6D3"/>
                </a:solidFill>
                <a:latin typeface="Calibri" pitchFamily="34" charset="0"/>
                <a:ea typeface="Calibri" pitchFamily="34" charset="-122"/>
                <a:cs typeface="Calibri" pitchFamily="34" charset="-120"/>
              </a:rPr>
              <a:t>Python + Pandas</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Database: </a:t>
            </a:r>
            <a:r>
              <a:rPr lang="en-US" sz="1400" dirty="0">
                <a:solidFill>
                  <a:srgbClr val="C9D6D3"/>
                </a:solidFill>
                <a:latin typeface="Calibri" pitchFamily="34" charset="0"/>
                <a:ea typeface="Calibri" pitchFamily="34" charset="-122"/>
                <a:cs typeface="Calibri" pitchFamily="34" charset="-120"/>
              </a:rPr>
              <a:t>PostgreSQL</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ML Models: </a:t>
            </a:r>
            <a:r>
              <a:rPr lang="en-US" sz="1400" dirty="0">
                <a:solidFill>
                  <a:srgbClr val="C9D6D3"/>
                </a:solidFill>
                <a:latin typeface="Calibri" pitchFamily="34" charset="0"/>
                <a:ea typeface="Calibri" pitchFamily="34" charset="-122"/>
                <a:cs typeface="Calibri" pitchFamily="34" charset="-120"/>
              </a:rPr>
              <a:t>Scikit-learn, XGBoost</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NLP: </a:t>
            </a:r>
            <a:r>
              <a:rPr lang="en-US" sz="1400" dirty="0">
                <a:solidFill>
                  <a:srgbClr val="C9D6D3"/>
                </a:solidFill>
                <a:latin typeface="Calibri" pitchFamily="34" charset="0"/>
                <a:ea typeface="Calibri" pitchFamily="34" charset="-122"/>
                <a:cs typeface="Calibri" pitchFamily="34" charset="-120"/>
              </a:rPr>
              <a:t>Hugging Face Transformers</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Embeddings: </a:t>
            </a:r>
            <a:r>
              <a:rPr lang="en-US" sz="1400" dirty="0">
                <a:solidFill>
                  <a:srgbClr val="C9D6D3"/>
                </a:solidFill>
                <a:latin typeface="Calibri" pitchFamily="34" charset="0"/>
                <a:ea typeface="Calibri" pitchFamily="34" charset="-122"/>
                <a:cs typeface="Calibri" pitchFamily="34" charset="-120"/>
              </a:rPr>
              <a:t>Sentence Transformers</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Vector Database: </a:t>
            </a:r>
            <a:r>
              <a:rPr lang="en-US" sz="1400" dirty="0">
                <a:solidFill>
                  <a:srgbClr val="C9D6D3"/>
                </a:solidFill>
                <a:latin typeface="Calibri" pitchFamily="34" charset="0"/>
                <a:ea typeface="Calibri" pitchFamily="34" charset="-122"/>
                <a:cs typeface="Calibri" pitchFamily="34" charset="-120"/>
              </a:rPr>
              <a:t>FAISS / Chroma</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LLM + RAG: </a:t>
            </a:r>
            <a:r>
              <a:rPr lang="en-US" sz="1400" dirty="0">
                <a:solidFill>
                  <a:srgbClr val="C9D6D3"/>
                </a:solidFill>
                <a:latin typeface="Calibri" pitchFamily="34" charset="0"/>
                <a:ea typeface="Calibri" pitchFamily="34" charset="-122"/>
                <a:cs typeface="Calibri" pitchFamily="34" charset="-120"/>
              </a:rPr>
              <a:t>GPT / Llama via LangChain</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Knowledge Graph: </a:t>
            </a:r>
            <a:r>
              <a:rPr lang="en-US" sz="1400" dirty="0">
                <a:solidFill>
                  <a:srgbClr val="C9D6D3"/>
                </a:solidFill>
                <a:latin typeface="Calibri" pitchFamily="34" charset="0"/>
                <a:ea typeface="Calibri" pitchFamily="34" charset="-122"/>
                <a:cs typeface="Calibri" pitchFamily="34" charset="-120"/>
              </a:rPr>
              <a:t>Neo4j</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Explainability: </a:t>
            </a:r>
            <a:r>
              <a:rPr lang="en-US" sz="1400" dirty="0">
                <a:solidFill>
                  <a:srgbClr val="C9D6D3"/>
                </a:solidFill>
                <a:latin typeface="Calibri" pitchFamily="34" charset="0"/>
                <a:ea typeface="Calibri" pitchFamily="34" charset="-122"/>
                <a:cs typeface="Calibri" pitchFamily="34" charset="-120"/>
              </a:rPr>
              <a:t>SHAP</a:t>
            </a:r>
            <a:endParaRPr lang="en-US" sz="1400" dirty="0"/>
          </a:p>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Interface: </a:t>
            </a:r>
            <a:r>
              <a:rPr lang="en-US" sz="1400" dirty="0">
                <a:solidFill>
                  <a:srgbClr val="C9D6D3"/>
                </a:solidFill>
                <a:latin typeface="Calibri" pitchFamily="34" charset="0"/>
                <a:ea typeface="Calibri" pitchFamily="34" charset="-122"/>
                <a:cs typeface="Calibri" pitchFamily="34" charset="-120"/>
              </a:rPr>
              <a:t>Streamlit / Gradio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4"/>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1F8A70"/>
          </a:solidFill>
          <a:ln/>
        </p:spPr>
      </p:sp>
      <p:sp>
        <p:nvSpPr>
          <p:cNvPr id="3" name="Shape 1"/>
          <p:cNvSpPr/>
          <p:nvPr/>
        </p:nvSpPr>
        <p:spPr>
          <a:xfrm>
            <a:off x="0" y="6812280"/>
            <a:ext cx="12191695" cy="45720"/>
          </a:xfrm>
          <a:prstGeom prst="rect">
            <a:avLst/>
          </a:prstGeom>
          <a:solidFill>
            <a:srgbClr val="1F8A70"/>
          </a:solidFill>
          <a:ln/>
        </p:spPr>
      </p:sp>
      <p:sp>
        <p:nvSpPr>
          <p:cNvPr id="4" name="Text 2"/>
          <p:cNvSpPr/>
          <p:nvPr/>
        </p:nvSpPr>
        <p:spPr>
          <a:xfrm>
            <a:off x="502920" y="384048"/>
            <a:ext cx="11155680" cy="548640"/>
          </a:xfrm>
          <a:prstGeom prst="rect">
            <a:avLst/>
          </a:prstGeom>
          <a:noFill/>
          <a:ln/>
        </p:spPr>
        <p:txBody>
          <a:bodyPr wrap="square" lIns="0" tIns="0" rIns="0" bIns="0" rtlCol="0" anchor="ctr"/>
          <a:lstStyle/>
          <a:p>
            <a:pPr marL="0" indent="0">
              <a:buNone/>
            </a:pPr>
            <a:r>
              <a:rPr lang="en-US" sz="3200" b="1" dirty="0">
                <a:solidFill>
                  <a:srgbClr val="132A3A"/>
                </a:solidFill>
                <a:latin typeface="Arial" pitchFamily="34" charset="0"/>
                <a:ea typeface="Arial" pitchFamily="34" charset="-122"/>
                <a:cs typeface="Arial" pitchFamily="34" charset="-120"/>
              </a:rPr>
              <a:t>DATASET &amp; EXPECTED OUTCOME</a:t>
            </a:r>
            <a:endParaRPr lang="en-US" sz="3200" dirty="0"/>
          </a:p>
        </p:txBody>
      </p:sp>
      <p:sp>
        <p:nvSpPr>
          <p:cNvPr id="5" name="Text 3"/>
          <p:cNvSpPr/>
          <p:nvPr/>
        </p:nvSpPr>
        <p:spPr>
          <a:xfrm>
            <a:off x="502920" y="1170432"/>
            <a:ext cx="5440680" cy="310896"/>
          </a:xfrm>
          <a:prstGeom prst="rect">
            <a:avLst/>
          </a:prstGeom>
          <a:noFill/>
          <a:ln/>
        </p:spPr>
        <p:txBody>
          <a:bodyPr wrap="square" lIns="0" tIns="0" rIns="0" bIns="0" rtlCol="0" anchor="ctr"/>
          <a:lstStyle/>
          <a:p>
            <a:pPr marL="0" indent="0">
              <a:buNone/>
            </a:pPr>
            <a:r>
              <a:rPr lang="en-US" sz="1500" b="1" kern="0" spc="100" dirty="0">
                <a:solidFill>
                  <a:srgbClr val="1F8A70"/>
                </a:solidFill>
                <a:latin typeface="Arial" pitchFamily="34" charset="0"/>
                <a:ea typeface="Arial" pitchFamily="34" charset="-122"/>
                <a:cs typeface="Arial" pitchFamily="34" charset="-120"/>
              </a:rPr>
              <a:t>DATASET</a:t>
            </a:r>
            <a:endParaRPr lang="en-US" sz="1500" dirty="0"/>
          </a:p>
        </p:txBody>
      </p:sp>
      <p:sp>
        <p:nvSpPr>
          <p:cNvPr id="6" name="Text 4"/>
          <p:cNvSpPr/>
          <p:nvPr/>
        </p:nvSpPr>
        <p:spPr>
          <a:xfrm>
            <a:off x="502920" y="1572768"/>
            <a:ext cx="5440680" cy="237744"/>
          </a:xfrm>
          <a:prstGeom prst="rect">
            <a:avLst/>
          </a:prstGeom>
          <a:noFill/>
          <a:ln/>
        </p:spPr>
        <p:txBody>
          <a:bodyPr wrap="square" lIns="0" tIns="0" rIns="0" bIns="0" rtlCol="0" anchor="ctr"/>
          <a:lstStyle/>
          <a:p>
            <a:pPr marL="0" indent="0">
              <a:buNone/>
            </a:pPr>
            <a:r>
              <a:rPr lang="en-US" sz="1050" b="1" kern="0" spc="80" dirty="0">
                <a:solidFill>
                  <a:srgbClr val="7C8C90"/>
                </a:solidFill>
                <a:latin typeface="Arial" pitchFamily="34" charset="0"/>
                <a:ea typeface="Arial" pitchFamily="34" charset="-122"/>
                <a:cs typeface="Arial" pitchFamily="34" charset="-120"/>
              </a:rPr>
              <a:t>FDA MAUDE DATABASE (REAL, PUBLIC)</a:t>
            </a:r>
            <a:endParaRPr lang="en-US" sz="1050" dirty="0"/>
          </a:p>
        </p:txBody>
      </p:sp>
      <p:sp>
        <p:nvSpPr>
          <p:cNvPr id="7" name="Text 5"/>
          <p:cNvSpPr/>
          <p:nvPr/>
        </p:nvSpPr>
        <p:spPr>
          <a:xfrm>
            <a:off x="502920" y="1847088"/>
            <a:ext cx="5440680" cy="681228"/>
          </a:xfrm>
          <a:prstGeom prst="rect">
            <a:avLst/>
          </a:prstGeom>
          <a:noFill/>
          <a:ln/>
        </p:spPr>
        <p:txBody>
          <a:bodyPr wrap="square" lIns="0" tIns="0" rIns="0" bIns="0" rtlCol="0" anchor="t"/>
          <a:lstStyle/>
          <a:p>
            <a:pPr marL="177800" indent="-177800">
              <a:lnSpc>
                <a:spcPct val="112000"/>
              </a:lnSpc>
              <a:buSzPct val="100000"/>
              <a:buChar char="•"/>
            </a:pPr>
            <a:r>
              <a:rPr lang="en-US" sz="1100" dirty="0">
                <a:solidFill>
                  <a:srgbClr val="44535A"/>
                </a:solidFill>
                <a:latin typeface="Calibri" pitchFamily="34" charset="0"/>
                <a:ea typeface="Calibri" pitchFamily="34" charset="-122"/>
                <a:cs typeface="Calibri" pitchFamily="34" charset="-120"/>
              </a:rPr>
              <a:t>Historical medical-device adverse-event reports, subset to 2–3 device categories (e.g. insulin pumps, infusion pumps, patient monitors) over a defined period (2021–2025) rather than the full multi-million-record archive.</a:t>
            </a:r>
            <a:endParaRPr lang="en-US" sz="1100" dirty="0"/>
          </a:p>
        </p:txBody>
      </p:sp>
      <p:sp>
        <p:nvSpPr>
          <p:cNvPr id="8" name="Text 6"/>
          <p:cNvSpPr/>
          <p:nvPr/>
        </p:nvSpPr>
        <p:spPr>
          <a:xfrm>
            <a:off x="502920" y="2674620"/>
            <a:ext cx="5440680" cy="237744"/>
          </a:xfrm>
          <a:prstGeom prst="rect">
            <a:avLst/>
          </a:prstGeom>
          <a:noFill/>
          <a:ln/>
        </p:spPr>
        <p:txBody>
          <a:bodyPr wrap="square" lIns="0" tIns="0" rIns="0" bIns="0" rtlCol="0" anchor="ctr"/>
          <a:lstStyle/>
          <a:p>
            <a:pPr marL="0" indent="0">
              <a:buNone/>
            </a:pPr>
            <a:r>
              <a:rPr lang="en-US" sz="1050" b="1" kern="0" spc="80" dirty="0">
                <a:solidFill>
                  <a:srgbClr val="7C8C90"/>
                </a:solidFill>
                <a:latin typeface="Arial" pitchFamily="34" charset="0"/>
                <a:ea typeface="Arial" pitchFamily="34" charset="-122"/>
                <a:cs typeface="Arial" pitchFamily="34" charset="-120"/>
              </a:rPr>
              <a:t>SYNTHETIC INTERNAL COMPLAINTS</a:t>
            </a:r>
            <a:endParaRPr lang="en-US" sz="1050" dirty="0"/>
          </a:p>
        </p:txBody>
      </p:sp>
      <p:sp>
        <p:nvSpPr>
          <p:cNvPr id="9" name="Text 7"/>
          <p:cNvSpPr/>
          <p:nvPr/>
        </p:nvSpPr>
        <p:spPr>
          <a:xfrm>
            <a:off x="502920" y="2948940"/>
            <a:ext cx="5440680" cy="681228"/>
          </a:xfrm>
          <a:prstGeom prst="rect">
            <a:avLst/>
          </a:prstGeom>
          <a:noFill/>
          <a:ln/>
        </p:spPr>
        <p:txBody>
          <a:bodyPr wrap="square" lIns="0" tIns="0" rIns="0" bIns="0" rtlCol="0" anchor="t"/>
          <a:lstStyle/>
          <a:p>
            <a:pPr marL="177800" indent="-177800">
              <a:lnSpc>
                <a:spcPct val="112000"/>
              </a:lnSpc>
              <a:buSzPct val="100000"/>
              <a:buChar char="•"/>
            </a:pPr>
            <a:r>
              <a:rPr lang="en-US" sz="1100" dirty="0">
                <a:solidFill>
                  <a:srgbClr val="44535A"/>
                </a:solidFill>
                <a:latin typeface="Calibri" pitchFamily="34" charset="0"/>
                <a:ea typeface="Calibri" pitchFamily="34" charset="-122"/>
                <a:cs typeface="Calibri" pitchFamily="34" charset="-120"/>
              </a:rPr>
              <a:t>5,000–10,000 records generated in MAUDE-consistent terminology to represent a manufacturer's own complaint log, since real complaint records are confidential.</a:t>
            </a:r>
            <a:endParaRPr lang="en-US" sz="1100" dirty="0"/>
          </a:p>
        </p:txBody>
      </p:sp>
      <p:sp>
        <p:nvSpPr>
          <p:cNvPr id="10" name="Text 8"/>
          <p:cNvSpPr/>
          <p:nvPr/>
        </p:nvSpPr>
        <p:spPr>
          <a:xfrm>
            <a:off x="502920" y="3776472"/>
            <a:ext cx="5440680" cy="237744"/>
          </a:xfrm>
          <a:prstGeom prst="rect">
            <a:avLst/>
          </a:prstGeom>
          <a:noFill/>
          <a:ln/>
        </p:spPr>
        <p:txBody>
          <a:bodyPr wrap="square" lIns="0" tIns="0" rIns="0" bIns="0" rtlCol="0" anchor="ctr"/>
          <a:lstStyle/>
          <a:p>
            <a:pPr marL="0" indent="0">
              <a:buNone/>
            </a:pPr>
            <a:r>
              <a:rPr lang="en-US" sz="1050" b="1" kern="0" spc="80" dirty="0">
                <a:solidFill>
                  <a:srgbClr val="7C8C90"/>
                </a:solidFill>
                <a:latin typeface="Arial" pitchFamily="34" charset="0"/>
                <a:ea typeface="Arial" pitchFamily="34" charset="-122"/>
                <a:cs typeface="Arial" pitchFamily="34" charset="-120"/>
              </a:rPr>
              <a:t>REGULATORY KNOWLEDGE BASE</a:t>
            </a:r>
            <a:endParaRPr lang="en-US" sz="1050" dirty="0"/>
          </a:p>
        </p:txBody>
      </p:sp>
      <p:sp>
        <p:nvSpPr>
          <p:cNvPr id="11" name="Text 9"/>
          <p:cNvSpPr/>
          <p:nvPr/>
        </p:nvSpPr>
        <p:spPr>
          <a:xfrm>
            <a:off x="502920" y="4050792"/>
            <a:ext cx="5440680" cy="466344"/>
          </a:xfrm>
          <a:prstGeom prst="rect">
            <a:avLst/>
          </a:prstGeom>
          <a:noFill/>
          <a:ln/>
        </p:spPr>
        <p:txBody>
          <a:bodyPr wrap="square" lIns="0" tIns="0" rIns="0" bIns="0" rtlCol="0" anchor="t"/>
          <a:lstStyle/>
          <a:p>
            <a:pPr marL="177800" indent="-177800">
              <a:lnSpc>
                <a:spcPct val="112000"/>
              </a:lnSpc>
              <a:buSzPct val="100000"/>
              <a:buChar char="•"/>
            </a:pPr>
            <a:r>
              <a:rPr lang="en-US" sz="1100" dirty="0">
                <a:solidFill>
                  <a:srgbClr val="44535A"/>
                </a:solidFill>
                <a:latin typeface="Calibri" pitchFamily="34" charset="0"/>
                <a:ea typeface="Calibri" pitchFamily="34" charset="-122"/>
                <a:cs typeface="Calibri" pitchFamily="34" charset="-120"/>
              </a:rPr>
              <a:t>FDA Medical Device Reporting guidance and 21 CFR Part 803, chunked and embedded for the RAG pipeline.</a:t>
            </a:r>
            <a:endParaRPr lang="en-US" sz="1100" dirty="0"/>
          </a:p>
        </p:txBody>
      </p:sp>
      <p:sp>
        <p:nvSpPr>
          <p:cNvPr id="12" name="Text 10"/>
          <p:cNvSpPr/>
          <p:nvPr/>
        </p:nvSpPr>
        <p:spPr>
          <a:xfrm>
            <a:off x="502920" y="4663440"/>
            <a:ext cx="5440680" cy="237744"/>
          </a:xfrm>
          <a:prstGeom prst="rect">
            <a:avLst/>
          </a:prstGeom>
          <a:noFill/>
          <a:ln/>
        </p:spPr>
        <p:txBody>
          <a:bodyPr wrap="square" lIns="0" tIns="0" rIns="0" bIns="0" rtlCol="0" anchor="ctr"/>
          <a:lstStyle/>
          <a:p>
            <a:pPr marL="0" indent="0">
              <a:buNone/>
            </a:pPr>
            <a:r>
              <a:rPr lang="en-US" sz="1050" b="1" kern="0" spc="80" dirty="0">
                <a:solidFill>
                  <a:srgbClr val="7C8C90"/>
                </a:solidFill>
                <a:latin typeface="Arial" pitchFamily="34" charset="0"/>
                <a:ea typeface="Arial" pitchFamily="34" charset="-122"/>
                <a:cs typeface="Arial" pitchFamily="34" charset="-120"/>
              </a:rPr>
              <a:t>RELEVANCE</a:t>
            </a:r>
            <a:endParaRPr lang="en-US" sz="1050" dirty="0"/>
          </a:p>
        </p:txBody>
      </p:sp>
      <p:sp>
        <p:nvSpPr>
          <p:cNvPr id="13" name="Text 11"/>
          <p:cNvSpPr/>
          <p:nvPr/>
        </p:nvSpPr>
        <p:spPr>
          <a:xfrm>
            <a:off x="502920" y="4937760"/>
            <a:ext cx="5440680" cy="1463040"/>
          </a:xfrm>
          <a:prstGeom prst="rect">
            <a:avLst/>
          </a:prstGeom>
          <a:noFill/>
          <a:ln/>
        </p:spPr>
        <p:txBody>
          <a:bodyPr wrap="square" lIns="0" tIns="0" rIns="0" bIns="0" rtlCol="0" anchor="t"/>
          <a:lstStyle/>
          <a:p>
            <a:pPr marL="0" indent="0">
              <a:lnSpc>
                <a:spcPct val="114000"/>
              </a:lnSpc>
              <a:buNone/>
            </a:pPr>
            <a:r>
              <a:rPr lang="en-US" sz="1100" dirty="0">
                <a:solidFill>
                  <a:srgbClr val="44535A"/>
                </a:solidFill>
                <a:latin typeface="Calibri" pitchFamily="34" charset="0"/>
                <a:ea typeface="Calibri" pitchFamily="34" charset="-122"/>
                <a:cs typeface="Calibri" pitchFamily="34" charset="-120"/>
              </a:rPr>
              <a:t>Pairing real FDA evidence with a synthetic internal-complaint layer lets MedTrace be built and evaluated end-to-end while keeping every risk and regulatory output traceable to a real or clearly-labelled synthetic source.</a:t>
            </a:r>
            <a:endParaRPr lang="en-US" sz="1100" dirty="0"/>
          </a:p>
        </p:txBody>
      </p:sp>
      <p:sp>
        <p:nvSpPr>
          <p:cNvPr id="14" name="Text 12"/>
          <p:cNvSpPr/>
          <p:nvPr/>
        </p:nvSpPr>
        <p:spPr>
          <a:xfrm>
            <a:off x="6263640" y="1170432"/>
            <a:ext cx="5440680" cy="310896"/>
          </a:xfrm>
          <a:prstGeom prst="rect">
            <a:avLst/>
          </a:prstGeom>
          <a:noFill/>
          <a:ln/>
        </p:spPr>
        <p:txBody>
          <a:bodyPr wrap="square" lIns="0" tIns="0" rIns="0" bIns="0" rtlCol="0" anchor="ctr"/>
          <a:lstStyle/>
          <a:p>
            <a:pPr marL="0" indent="0">
              <a:buNone/>
            </a:pPr>
            <a:r>
              <a:rPr lang="en-US" sz="1500" b="1" kern="0" spc="100" dirty="0">
                <a:solidFill>
                  <a:srgbClr val="1F8A70"/>
                </a:solidFill>
                <a:latin typeface="Arial" pitchFamily="34" charset="0"/>
                <a:ea typeface="Arial" pitchFamily="34" charset="-122"/>
                <a:cs typeface="Arial" pitchFamily="34" charset="-120"/>
              </a:rPr>
              <a:t>EXPECTED OUTCOME</a:t>
            </a:r>
            <a:endParaRPr lang="en-US" sz="1500" dirty="0"/>
          </a:p>
        </p:txBody>
      </p:sp>
      <p:sp>
        <p:nvSpPr>
          <p:cNvPr id="15" name="Text 13"/>
          <p:cNvSpPr/>
          <p:nvPr/>
        </p:nvSpPr>
        <p:spPr>
          <a:xfrm>
            <a:off x="6263640" y="1600200"/>
            <a:ext cx="5440680" cy="493776"/>
          </a:xfrm>
          <a:prstGeom prst="rect">
            <a:avLst/>
          </a:prstGeom>
          <a:noFill/>
          <a:ln/>
        </p:spPr>
        <p:txBody>
          <a:bodyPr wrap="square" lIns="0" tIns="0" rIns="0" bIns="0" rtlCol="0" anchor="t"/>
          <a:lstStyle/>
          <a:p>
            <a:pPr marL="0" indent="0">
              <a:lnSpc>
                <a:spcPct val="115000"/>
              </a:lnSpc>
              <a:buNone/>
            </a:pPr>
            <a:r>
              <a:rPr lang="en-US" sz="1300" b="1" dirty="0">
                <a:solidFill>
                  <a:srgbClr val="1F8A70"/>
                </a:solidFill>
                <a:latin typeface="Calibri" pitchFamily="34" charset="0"/>
                <a:ea typeface="Calibri" pitchFamily="34" charset="-122"/>
                <a:cs typeface="Calibri" pitchFamily="34" charset="-120"/>
              </a:rPr>
              <a:t>01  </a:t>
            </a:r>
            <a:r>
              <a:rPr lang="en-US" sz="1200" dirty="0">
                <a:solidFill>
                  <a:srgbClr val="44535A"/>
                </a:solidFill>
                <a:latin typeface="Calibri" pitchFamily="34" charset="0"/>
                <a:ea typeface="Calibri" pitchFamily="34" charset="-122"/>
                <a:cs typeface="Calibri" pitchFamily="34" charset="-120"/>
              </a:rPr>
              <a:t>Structured extraction of device, failure and patient-impact details from raw complaint text.</a:t>
            </a:r>
            <a:endParaRPr lang="en-US" sz="1300" dirty="0"/>
          </a:p>
        </p:txBody>
      </p:sp>
      <p:sp>
        <p:nvSpPr>
          <p:cNvPr id="16" name="Text 14"/>
          <p:cNvSpPr/>
          <p:nvPr/>
        </p:nvSpPr>
        <p:spPr>
          <a:xfrm>
            <a:off x="6263640" y="2295144"/>
            <a:ext cx="5440680" cy="493776"/>
          </a:xfrm>
          <a:prstGeom prst="rect">
            <a:avLst/>
          </a:prstGeom>
          <a:noFill/>
          <a:ln/>
        </p:spPr>
        <p:txBody>
          <a:bodyPr wrap="square" lIns="0" tIns="0" rIns="0" bIns="0" rtlCol="0" anchor="t"/>
          <a:lstStyle/>
          <a:p>
            <a:pPr marL="0" indent="0">
              <a:lnSpc>
                <a:spcPct val="115000"/>
              </a:lnSpc>
              <a:buNone/>
            </a:pPr>
            <a:r>
              <a:rPr lang="en-US" sz="1300" b="1" dirty="0">
                <a:solidFill>
                  <a:srgbClr val="1F8A70"/>
                </a:solidFill>
                <a:latin typeface="Calibri" pitchFamily="34" charset="0"/>
                <a:ea typeface="Calibri" pitchFamily="34" charset="-122"/>
                <a:cs typeface="Calibri" pitchFamily="34" charset="-120"/>
              </a:rPr>
              <a:t>02  </a:t>
            </a:r>
            <a:r>
              <a:rPr lang="en-US" sz="1200" dirty="0">
                <a:solidFill>
                  <a:srgbClr val="44535A"/>
                </a:solidFill>
                <a:latin typeface="Calibri" pitchFamily="34" charset="0"/>
                <a:ea typeface="Calibri" pitchFamily="34" charset="-122"/>
                <a:cs typeface="Calibri" pitchFamily="34" charset="-120"/>
              </a:rPr>
              <a:t>Analytical risk scores (Low–Critical) with SHAP-based explanations for every complaint.</a:t>
            </a:r>
            <a:endParaRPr lang="en-US" sz="1300" dirty="0"/>
          </a:p>
        </p:txBody>
      </p:sp>
      <p:sp>
        <p:nvSpPr>
          <p:cNvPr id="17" name="Text 15"/>
          <p:cNvSpPr/>
          <p:nvPr/>
        </p:nvSpPr>
        <p:spPr>
          <a:xfrm>
            <a:off x="6263640" y="2990088"/>
            <a:ext cx="5440680" cy="493776"/>
          </a:xfrm>
          <a:prstGeom prst="rect">
            <a:avLst/>
          </a:prstGeom>
          <a:noFill/>
          <a:ln/>
        </p:spPr>
        <p:txBody>
          <a:bodyPr wrap="square" lIns="0" tIns="0" rIns="0" bIns="0" rtlCol="0" anchor="t"/>
          <a:lstStyle/>
          <a:p>
            <a:pPr marL="0" indent="0">
              <a:lnSpc>
                <a:spcPct val="115000"/>
              </a:lnSpc>
              <a:buNone/>
            </a:pPr>
            <a:r>
              <a:rPr lang="en-US" sz="1300" b="1" dirty="0">
                <a:solidFill>
                  <a:srgbClr val="1F8A70"/>
                </a:solidFill>
                <a:latin typeface="Calibri" pitchFamily="34" charset="0"/>
                <a:ea typeface="Calibri" pitchFamily="34" charset="-122"/>
                <a:cs typeface="Calibri" pitchFamily="34" charset="-120"/>
              </a:rPr>
              <a:t>03  </a:t>
            </a:r>
            <a:r>
              <a:rPr lang="en-US" sz="1200" dirty="0">
                <a:solidFill>
                  <a:srgbClr val="44535A"/>
                </a:solidFill>
                <a:latin typeface="Calibri" pitchFamily="34" charset="0"/>
                <a:ea typeface="Calibri" pitchFamily="34" charset="-122"/>
                <a:cs typeface="Calibri" pitchFamily="34" charset="-120"/>
              </a:rPr>
              <a:t>Automatic surfacing of similar internal and FDA MAUDE cases for each new complaint.</a:t>
            </a:r>
            <a:endParaRPr lang="en-US" sz="1300" dirty="0"/>
          </a:p>
        </p:txBody>
      </p:sp>
      <p:sp>
        <p:nvSpPr>
          <p:cNvPr id="18" name="Text 16"/>
          <p:cNvSpPr/>
          <p:nvPr/>
        </p:nvSpPr>
        <p:spPr>
          <a:xfrm>
            <a:off x="6263640" y="3685032"/>
            <a:ext cx="5440680" cy="493776"/>
          </a:xfrm>
          <a:prstGeom prst="rect">
            <a:avLst/>
          </a:prstGeom>
          <a:noFill/>
          <a:ln/>
        </p:spPr>
        <p:txBody>
          <a:bodyPr wrap="square" lIns="0" tIns="0" rIns="0" bIns="0" rtlCol="0" anchor="t"/>
          <a:lstStyle/>
          <a:p>
            <a:pPr marL="0" indent="0">
              <a:lnSpc>
                <a:spcPct val="115000"/>
              </a:lnSpc>
              <a:buNone/>
            </a:pPr>
            <a:r>
              <a:rPr lang="en-US" sz="1300" b="1" dirty="0">
                <a:solidFill>
                  <a:srgbClr val="1F8A70"/>
                </a:solidFill>
                <a:latin typeface="Calibri" pitchFamily="34" charset="0"/>
                <a:ea typeface="Calibri" pitchFamily="34" charset="-122"/>
                <a:cs typeface="Calibri" pitchFamily="34" charset="-120"/>
              </a:rPr>
              <a:t>04  </a:t>
            </a:r>
            <a:r>
              <a:rPr lang="en-US" sz="1200" dirty="0">
                <a:solidFill>
                  <a:srgbClr val="44535A"/>
                </a:solidFill>
                <a:latin typeface="Calibri" pitchFamily="34" charset="0"/>
                <a:ea typeface="Calibri" pitchFamily="34" charset="-122"/>
                <a:cs typeface="Calibri" pitchFamily="34" charset="-120"/>
              </a:rPr>
              <a:t>Early detection of recurring device/model problems via complaint-frequency trends.</a:t>
            </a:r>
            <a:endParaRPr lang="en-US" sz="1300" dirty="0"/>
          </a:p>
        </p:txBody>
      </p:sp>
      <p:sp>
        <p:nvSpPr>
          <p:cNvPr id="19" name="Text 17"/>
          <p:cNvSpPr/>
          <p:nvPr/>
        </p:nvSpPr>
        <p:spPr>
          <a:xfrm>
            <a:off x="6263640" y="4379976"/>
            <a:ext cx="5440680" cy="384048"/>
          </a:xfrm>
          <a:prstGeom prst="rect">
            <a:avLst/>
          </a:prstGeom>
          <a:noFill/>
          <a:ln/>
        </p:spPr>
        <p:txBody>
          <a:bodyPr wrap="square" lIns="0" tIns="0" rIns="0" bIns="0" rtlCol="0" anchor="t"/>
          <a:lstStyle/>
          <a:p>
            <a:pPr marL="0" indent="0">
              <a:lnSpc>
                <a:spcPct val="115000"/>
              </a:lnSpc>
              <a:buNone/>
            </a:pPr>
            <a:r>
              <a:rPr lang="en-US" sz="1300" b="1" dirty="0">
                <a:solidFill>
                  <a:srgbClr val="1F8A70"/>
                </a:solidFill>
                <a:latin typeface="Calibri" pitchFamily="34" charset="0"/>
                <a:ea typeface="Calibri" pitchFamily="34" charset="-122"/>
                <a:cs typeface="Calibri" pitchFamily="34" charset="-120"/>
              </a:rPr>
              <a:t>05  </a:t>
            </a:r>
            <a:r>
              <a:rPr lang="en-US" sz="1200" dirty="0">
                <a:solidFill>
                  <a:srgbClr val="44535A"/>
                </a:solidFill>
                <a:latin typeface="Calibri" pitchFamily="34" charset="0"/>
                <a:ea typeface="Calibri" pitchFamily="34" charset="-122"/>
                <a:cs typeface="Calibri" pitchFamily="34" charset="-120"/>
              </a:rPr>
              <a:t>Citation-backed guidance on potential MDR reportability.</a:t>
            </a:r>
            <a:endParaRPr lang="en-US" sz="1300" dirty="0"/>
          </a:p>
        </p:txBody>
      </p:sp>
      <p:sp>
        <p:nvSpPr>
          <p:cNvPr id="20" name="Text 18"/>
          <p:cNvSpPr/>
          <p:nvPr/>
        </p:nvSpPr>
        <p:spPr>
          <a:xfrm>
            <a:off x="6263640" y="4965192"/>
            <a:ext cx="5440680" cy="493776"/>
          </a:xfrm>
          <a:prstGeom prst="rect">
            <a:avLst/>
          </a:prstGeom>
          <a:noFill/>
          <a:ln/>
        </p:spPr>
        <p:txBody>
          <a:bodyPr wrap="square" lIns="0" tIns="0" rIns="0" bIns="0" rtlCol="0" anchor="t"/>
          <a:lstStyle/>
          <a:p>
            <a:pPr marL="0" indent="0">
              <a:lnSpc>
                <a:spcPct val="115000"/>
              </a:lnSpc>
              <a:buNone/>
            </a:pPr>
            <a:r>
              <a:rPr lang="en-US" sz="1300" b="1" dirty="0">
                <a:solidFill>
                  <a:srgbClr val="1F8A70"/>
                </a:solidFill>
                <a:latin typeface="Calibri" pitchFamily="34" charset="0"/>
                <a:ea typeface="Calibri" pitchFamily="34" charset="-122"/>
                <a:cs typeface="Calibri" pitchFamily="34" charset="-120"/>
              </a:rPr>
              <a:t>06  </a:t>
            </a:r>
            <a:r>
              <a:rPr lang="en-US" sz="1200" dirty="0">
                <a:solidFill>
                  <a:srgbClr val="44535A"/>
                </a:solidFill>
                <a:latin typeface="Calibri" pitchFamily="34" charset="0"/>
                <a:ea typeface="Calibri" pitchFamily="34" charset="-122"/>
                <a:cs typeface="Calibri" pitchFamily="34" charset="-120"/>
              </a:rPr>
              <a:t>Agentic, evidence-backed investigation reports for human regulatory review.</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949</Words>
  <Application>Microsoft Office PowerPoint</Application>
  <PresentationFormat>Widescreen</PresentationFormat>
  <Paragraphs>97</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KHAVIN C</cp:lastModifiedBy>
  <cp:revision>2</cp:revision>
  <dcterms:created xsi:type="dcterms:W3CDTF">2026-08-28T01:38:09Z</dcterms:created>
  <dcterms:modified xsi:type="dcterms:W3CDTF">2026-08-28T01:57:10Z</dcterms:modified>
</cp:coreProperties>
</file>